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3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2"/>
  </p:notesMasterIdLst>
  <p:sldIdLst>
    <p:sldId id="256" r:id="rId5"/>
    <p:sldId id="257" r:id="rId6"/>
    <p:sldId id="258" r:id="rId7"/>
    <p:sldId id="262" r:id="rId8"/>
    <p:sldId id="260" r:id="rId9"/>
    <p:sldId id="261" r:id="rId10"/>
    <p:sldId id="259" r:id="rId11"/>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693B0DD-347E-4488-E18F-A6570D26DD83}" name="Tim Eisenmann" initials="TE" userId="S::tim.eisenmann@predii.com::b846d8b6-cf25-4b0d-b6fd-1e0fe0d00af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7777"/>
    <a:srgbClr val="66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2937" autoAdjust="0"/>
  </p:normalViewPr>
  <p:slideViewPr>
    <p:cSldViewPr snapToGrid="0" snapToObjects="1">
      <p:cViewPr varScale="1">
        <p:scale>
          <a:sx n="57" d="100"/>
          <a:sy n="57" d="100"/>
        </p:scale>
        <p:origin x="482" y="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omments/modernComment_103_0.xml><?xml version="1.0" encoding="utf-8"?>
<p188:cmLst xmlns:a="http://schemas.openxmlformats.org/drawingml/2006/main" xmlns:r="http://schemas.openxmlformats.org/officeDocument/2006/relationships" xmlns:p188="http://schemas.microsoft.com/office/powerpoint/2018/8/main">
  <p188:cm id="{E7D661A7-2EC8-4DAC-9F18-6AB97BB5FEF2}" authorId="{C693B0DD-347E-4488-E18F-A6570D26DD83}" created="2026-07-22T04:52:54.729">
    <ac:deMkLst xmlns:ac="http://schemas.microsoft.com/office/drawing/2013/main/command">
      <pc:docMk xmlns:pc="http://schemas.microsoft.com/office/powerpoint/2013/main/command"/>
      <pc:sldMk xmlns:pc="http://schemas.microsoft.com/office/powerpoint/2013/main/command" cId="0" sldId="259"/>
      <ac:spMk id="4" creationId="{00000000-0000-0000-0000-000000000000}"/>
    </ac:deMkLst>
    <p188:txBody>
      <a:bodyPr/>
      <a:lstStyle/>
      <a:p>
        <a:r>
          <a:rPr lang="en-US"/>
          <a:t>I like this version of the slide better than the next one,. Screneshots are not great - cant read what is being displayed. I think being more specific about what we read, what triggers the agent to wake up and what infois then being delivered would be great. How can we get to that level of depth? [@Tilak Kasturi Predii]?</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E351489F-81E7-4D7D-B71E-E1413A133C00}" type="datetimeFigureOut">
              <a:t>7/30/2026</a:t>
            </a:fld>
            <a:endParaRPr lang="en-US" dirty="0"/>
          </a:p>
        </p:txBody>
      </p:sp>
      <p:sp>
        <p:nvSpPr>
          <p:cNvPr id="4" name="Slide Image Placeholder 3"/>
          <p:cNvSpPr>
            <a:spLocks noGrp="1" noRot="1" noChangeAspect="1"/>
          </p:cNvSpPr>
          <p:nvPr>
            <p:ph type="sldImg" idx="2"/>
          </p:nvPr>
        </p:nvSpPr>
        <p:spPr>
          <a:xfrm>
            <a:off x="-225425" y="1524000"/>
            <a:ext cx="7308850" cy="4113213"/>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5865813"/>
            <a:ext cx="5486400" cy="47990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77638"/>
            <a:ext cx="2971800" cy="6111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11577638"/>
            <a:ext cx="2971800" cy="611187"/>
          </a:xfrm>
          <a:prstGeom prst="rect">
            <a:avLst/>
          </a:prstGeom>
        </p:spPr>
        <p:txBody>
          <a:bodyPr vert="horz" lIns="91440" tIns="45720" rIns="91440" bIns="45720" rtlCol="0" anchor="b"/>
          <a:lstStyle>
            <a:lvl1pPr algn="r">
              <a:defRPr sz="1200"/>
            </a:lvl1pPr>
          </a:lstStyle>
          <a:p>
            <a:fld id="{E7B48688-175E-4024-AF72-0920F6ADDC7D}" type="slidenum">
              <a:t>‹#›</a:t>
            </a:fld>
            <a:endParaRPr lang="en-US" dirty="0"/>
          </a:p>
        </p:txBody>
      </p:sp>
    </p:spTree>
    <p:extLst>
      <p:ext uri="{BB962C8B-B14F-4D97-AF65-F5344CB8AC3E}">
        <p14:creationId xmlns:p14="http://schemas.microsoft.com/office/powerpoint/2010/main" val="622327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Thanks for the time — I know what an hour costs when the bays are full, so we'll keep this tight and get to a live demo quickly.</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Looking to build on the discussion we had at dinner during the Auto Care connect week – this group – the Vehicle Service Experts – provided us with quite a bit of feedback, of real-world challenges and issues being faced every day, every week inside the shops – </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we took that feedback and used it to refine some of the concepts we’ll share today around leveraging AI as</a:t>
            </a:r>
            <a:r>
              <a:rPr lang="en-US" sz="2400" b="1">
                <a:effectLst/>
                <a:latin typeface="Calibri" panose="020F0502020204030204" pitchFamily="34" charset="0"/>
                <a:ea typeface="Calibri" panose="020F0502020204030204" pitchFamily="34" charset="0"/>
              </a:rPr>
              <a:t>, say, </a:t>
            </a:r>
            <a:r>
              <a:rPr lang="en-US" sz="2400" b="1" dirty="0">
                <a:effectLst/>
                <a:latin typeface="Calibri" panose="020F0502020204030204" pitchFamily="34" charset="0"/>
                <a:ea typeface="Calibri" panose="020F0502020204030204" pitchFamily="34" charset="0"/>
              </a:rPr>
              <a:t>an Intelligence Layer alongside your current shop management system help to maximize revenue, margin and the customer experience.</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One sentence on what you're about to see: WrenchIQ is an AI assistant that sits on top of the shop management system you already run and works every repair order with your team — </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like you as a coach with every advisor and tech, on every ticket, all day.</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Another key - It's not another screen to manage and not a replacement for your people. It sits in background and helps make the counter more effective - on every single RO.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Three blind spots — none of them are really people problems, but all of them are experienced throughout the day:</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Margin is invisible at the counter. Your advisor builds the estimate with no view of parts margin. You find out at week –or month-end — too late to do anything about it in real time.</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Key recommendations depend on who's working. Your best advisors catch the related repair and the recommended services that are due. But on their day off, or even on a really busy day - that could be work that walks out the door.</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Your priorities don’t always survive the week. The promo you asked to push Monday morning is often gone by Wednesday's full lobby and a stack of daily priorities.</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A question you may think about - why hasn't my shop system caught this? </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Mainly because the SMS was built to record work, not read it. </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WrenchIQ, however, reads the RO while the vehicle is still on the lift and the customer is still standing in front of you — and that timing is the whole product.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nSpc>
                <a:spcPct val="115000"/>
              </a:lnSpc>
              <a:spcBef>
                <a:spcPts val="0"/>
              </a:spcBef>
              <a:spcAft>
                <a:spcPts val="400"/>
              </a:spcAft>
              <a:buFont typeface="Arial" panose="020B0604020202020204" pitchFamily="34" charset="0"/>
              <a:buNone/>
            </a:pPr>
            <a:r>
              <a:rPr lang="en-US" sz="2400" b="1" dirty="0">
                <a:effectLst/>
                <a:latin typeface="Calibri" panose="020F0502020204030204" pitchFamily="34" charset="0"/>
                <a:ea typeface="Calibri" panose="020F0502020204030204" pitchFamily="34" charset="0"/>
              </a:rPr>
              <a:t>Key WrenchIQ activity being done in the background for every RO:</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Job 1 — Intake &amp; diagnosis intelligence. It reads the RO as it's written; recommends related repairs, due maintenance, and TSBs for that exact vehicle.</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What that means for you: higher average RO and fewer comebacks — the work gets caught during the initial visit, by whoever's at the counter regardless of experience level.</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Job 2 — RO narration &amp; customer trust. WrenchIQ auto-writes the complaint–cause–correction story (the CCC’s) and gives the advisor a plain-English talk track. </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Techs are great mechanics but often not-great writers or communicators - a clear, confident story to the customer is the difference between “let me think about it” and “yes, go ahead.” More approvals, stronger trust.</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Job 3 — Evidence-based recommendations &amp; your priorities. Every recommendation is backed by what the vehicle actually shows — </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customers can feel the difference between a pitch and a finding supported by data. And your margin targets and promotions ride along on every ticket, not just Monday when it is fresh in their minds.</a:t>
            </a:r>
          </a:p>
          <a:p>
            <a:pPr marL="0" marR="0">
              <a:lnSpc>
                <a:spcPct val="115000"/>
              </a:lnSpc>
              <a:spcBef>
                <a:spcPts val="0"/>
              </a:spcBef>
              <a:spcAft>
                <a:spcPts val="600"/>
              </a:spcAft>
            </a:pPr>
            <a:r>
              <a:rPr lang="en-US" sz="2400" b="1" i="0" dirty="0">
                <a:effectLst/>
                <a:latin typeface="Calibri" panose="020F0502020204030204" pitchFamily="34" charset="0"/>
                <a:ea typeface="Calibri" panose="020F0502020204030204" pitchFamily="34" charset="0"/>
              </a:rPr>
              <a:t>Bottom line: It’s about getting your best advisor's judgment &amp; attention, on every shift, on every RO..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Bottom Line: You run shops; we build AI. We need your thoughts and feedback.</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 As we move to the demo…we’re looking for thoughts around things like:</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Did we hit the right use cases — or are there a bigger daily headaches we should chase first?</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Does this fit how your floor actually runs?</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How should it be delivered so it feels natural at the counter</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And final bottom line:  we’re actually in the middle of looking for partners in a low-lift pilot on real ROs — WrenchIQ running alongside a real workflow, measured against numbers you already track: average RO, approval rate, comebacks. </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So if you’re interested in diving in more going forward, just let us know.</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So just some things to think about as Tilak talks through the high-level overview and demo…</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One note – while I say “demo” – it’s difficult to really fully demo this as it would work in the real-world…but we’re hoping to give you a good representation of how WrenchIQ would be fueled by your data and the management priorities you set, and then monitor the RO execution making recommendations when it sees and opportunity for revenue, margin or customer experience optimization.</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Any general thoughts or questions at this point before we move to a high level demo?</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With that, I’ll hand it over to Tilak…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Just showing here a high-level flow of what the Intelligence Layer is doing behind the scenes….</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perhaps equally important is what it’s not doing:  no new system, no new logins, no heavy retraining at the shop level, no change to how your advisors write an RO today. Simply assisting within the current SMS workflow.</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Advisor writes the RO in the SMS you already use.</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WrenchIQ reads the feed silently alongside of it.</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It speaks up in the moment – making any needed recommendations, providing margin flags in real time, giving reminders based on your specific weekly priorities.</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Finally - your advisor makes the ultimate call. Always. The AI advises; your people decide.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456"/>
        </a:solidFill>
        <a:effectLst/>
      </p:bgPr>
    </p:bg>
    <p:spTree>
      <p:nvGrpSpPr>
        <p:cNvPr id="1" name=""/>
        <p:cNvGrpSpPr/>
        <p:nvPr/>
      </p:nvGrpSpPr>
      <p:grpSpPr>
        <a:xfrm>
          <a:off x="0" y="0"/>
          <a:ext cx="0" cy="0"/>
          <a:chOff x="0" y="0"/>
          <a:chExt cx="0" cy="0"/>
        </a:xfrm>
      </p:grpSpPr>
      <p:sp>
        <p:nvSpPr>
          <p:cNvPr id="2" name="Text 0"/>
          <p:cNvSpPr/>
          <p:nvPr/>
        </p:nvSpPr>
        <p:spPr>
          <a:xfrm>
            <a:off x="502920" y="411480"/>
            <a:ext cx="3657600" cy="365760"/>
          </a:xfrm>
          <a:prstGeom prst="rect">
            <a:avLst/>
          </a:prstGeom>
          <a:noFill/>
          <a:ln/>
        </p:spPr>
        <p:txBody>
          <a:bodyPr wrap="square" rtlCol="0" anchor="ctr"/>
          <a:lstStyle/>
          <a:p>
            <a:pPr marL="0" indent="0">
              <a:buNone/>
            </a:pPr>
            <a:r>
              <a:rPr lang="en-US" sz="1400" b="1" kern="0" spc="500" dirty="0">
                <a:solidFill>
                  <a:srgbClr val="FFFFFF"/>
                </a:solidFill>
                <a:latin typeface="Calibri" pitchFamily="34" charset="0"/>
                <a:ea typeface="Calibri" pitchFamily="34" charset="-122"/>
                <a:cs typeface="Calibri" pitchFamily="34" charset="-120"/>
              </a:rPr>
              <a:t>PREDII</a:t>
            </a:r>
            <a:endParaRPr lang="en-US" sz="1400" dirty="0"/>
          </a:p>
        </p:txBody>
      </p:sp>
      <p:sp>
        <p:nvSpPr>
          <p:cNvPr id="4" name="Text 2"/>
          <p:cNvSpPr/>
          <p:nvPr/>
        </p:nvSpPr>
        <p:spPr>
          <a:xfrm>
            <a:off x="502920" y="2148840"/>
            <a:ext cx="10972800" cy="914400"/>
          </a:xfrm>
          <a:prstGeom prst="rect">
            <a:avLst/>
          </a:prstGeom>
          <a:noFill/>
          <a:ln/>
        </p:spPr>
        <p:txBody>
          <a:bodyPr wrap="square" rtlCol="0" anchor="ctr"/>
          <a:lstStyle/>
          <a:p>
            <a:pPr marL="0" indent="0">
              <a:buNone/>
            </a:pPr>
            <a:r>
              <a:rPr lang="en-US" sz="6000" b="1" dirty="0">
                <a:solidFill>
                  <a:srgbClr val="FFFFFF"/>
                </a:solidFill>
                <a:latin typeface="Calibri" pitchFamily="34" charset="0"/>
                <a:ea typeface="Calibri" pitchFamily="34" charset="-122"/>
                <a:cs typeface="Calibri" pitchFamily="34" charset="-120"/>
              </a:rPr>
              <a:t>WrenchIQ</a:t>
            </a:r>
            <a:endParaRPr lang="en-US" sz="6000" dirty="0"/>
          </a:p>
        </p:txBody>
      </p:sp>
      <p:sp>
        <p:nvSpPr>
          <p:cNvPr id="5" name="Text 3"/>
          <p:cNvSpPr/>
          <p:nvPr/>
        </p:nvSpPr>
        <p:spPr>
          <a:xfrm>
            <a:off x="502920" y="3200400"/>
            <a:ext cx="11030010" cy="640080"/>
          </a:xfrm>
          <a:prstGeom prst="rect">
            <a:avLst/>
          </a:prstGeom>
          <a:noFill/>
          <a:ln/>
        </p:spPr>
        <p:txBody>
          <a:bodyPr wrap="square" rtlCol="0" anchor="ctr"/>
          <a:lstStyle/>
          <a:p>
            <a:pPr marL="0" indent="0">
              <a:buNone/>
            </a:pPr>
            <a:r>
              <a:rPr lang="en-US" sz="2600" dirty="0">
                <a:solidFill>
                  <a:srgbClr val="FFFFFF"/>
                </a:solidFill>
                <a:latin typeface="Calibri" pitchFamily="34" charset="0"/>
                <a:ea typeface="Calibri" pitchFamily="34" charset="-122"/>
                <a:cs typeface="Calibri" pitchFamily="34" charset="-120"/>
              </a:rPr>
              <a:t>An AI assistant monitoring your SMS &amp; optimizing every repair order with you.</a:t>
            </a:r>
            <a:endParaRPr lang="en-US" sz="2600" dirty="0"/>
          </a:p>
        </p:txBody>
      </p:sp>
      <p:sp>
        <p:nvSpPr>
          <p:cNvPr id="6" name="Text 4"/>
          <p:cNvSpPr/>
          <p:nvPr/>
        </p:nvSpPr>
        <p:spPr>
          <a:xfrm>
            <a:off x="502920" y="3977640"/>
            <a:ext cx="10058400" cy="640080"/>
          </a:xfrm>
          <a:prstGeom prst="rect">
            <a:avLst/>
          </a:prstGeom>
          <a:noFill/>
          <a:ln/>
        </p:spPr>
        <p:txBody>
          <a:bodyPr wrap="square" rtlCol="0" anchor="ctr"/>
          <a:lstStyle/>
          <a:p>
            <a:pPr marL="0" indent="0">
              <a:buNone/>
            </a:pPr>
            <a:r>
              <a:rPr lang="en-US" sz="2000" i="1" dirty="0">
                <a:solidFill>
                  <a:srgbClr val="C8D8F8"/>
                </a:solidFill>
                <a:latin typeface="Calibri" pitchFamily="34" charset="0"/>
                <a:ea typeface="Calibri" pitchFamily="34" charset="-122"/>
                <a:cs typeface="Calibri" pitchFamily="34" charset="-120"/>
              </a:rPr>
              <a:t>Like an owner coaching the service advisor and technician — on every RO.</a:t>
            </a:r>
            <a:endParaRPr lang="en-US" sz="2000" dirty="0"/>
          </a:p>
        </p:txBody>
      </p:sp>
      <p:sp>
        <p:nvSpPr>
          <p:cNvPr id="7" name="Text 5"/>
          <p:cNvSpPr/>
          <p:nvPr/>
        </p:nvSpPr>
        <p:spPr>
          <a:xfrm>
            <a:off x="502920" y="6446520"/>
            <a:ext cx="7315200" cy="274320"/>
          </a:xfrm>
          <a:prstGeom prst="rect">
            <a:avLst/>
          </a:prstGeom>
          <a:noFill/>
          <a:ln/>
        </p:spPr>
        <p:txBody>
          <a:bodyPr wrap="square" rtlCol="0" anchor="ctr"/>
          <a:lstStyle/>
          <a:p>
            <a:pPr marL="0" indent="0" algn="l">
              <a:buNone/>
            </a:pPr>
            <a:r>
              <a:rPr lang="en-US" sz="850" b="1" kern="0" spc="100" dirty="0">
                <a:solidFill>
                  <a:schemeClr val="bg1">
                    <a:lumMod val="85000"/>
                  </a:schemeClr>
                </a:solidFill>
                <a:latin typeface="Calibri" pitchFamily="34" charset="0"/>
                <a:ea typeface="Calibri" pitchFamily="34" charset="-122"/>
                <a:cs typeface="Calibri" pitchFamily="34" charset="-120"/>
              </a:rPr>
              <a:t>PREDII CONFIDENTIAL</a:t>
            </a:r>
            <a:r>
              <a:rPr lang="en-US" sz="850" kern="0" spc="100" dirty="0">
                <a:solidFill>
                  <a:schemeClr val="bg1">
                    <a:lumMod val="85000"/>
                  </a:schemeClr>
                </a:solidFill>
                <a:latin typeface="Calibri" pitchFamily="34" charset="0"/>
                <a:ea typeface="Calibri" pitchFamily="34" charset="-122"/>
                <a:cs typeface="Calibri" pitchFamily="34" charset="-120"/>
              </a:rPr>
              <a:t>   |   WRENCHIQ INTRODUCTION</a:t>
            </a:r>
            <a:endParaRPr lang="en-US" sz="850" dirty="0">
              <a:solidFill>
                <a:schemeClr val="bg1">
                  <a:lumMod val="85000"/>
                </a:schemeClr>
              </a:solidFill>
            </a:endParaRPr>
          </a:p>
        </p:txBody>
      </p:sp>
      <p:sp>
        <p:nvSpPr>
          <p:cNvPr id="8" name="Text 6"/>
          <p:cNvSpPr/>
          <p:nvPr/>
        </p:nvSpPr>
        <p:spPr>
          <a:xfrm>
            <a:off x="4873752" y="6446520"/>
            <a:ext cx="6812280" cy="274320"/>
          </a:xfrm>
          <a:prstGeom prst="rect">
            <a:avLst/>
          </a:prstGeom>
          <a:noFill/>
          <a:ln/>
        </p:spPr>
        <p:txBody>
          <a:bodyPr wrap="square" rtlCol="0" anchor="ctr"/>
          <a:lstStyle/>
          <a:p>
            <a:pPr marL="0" indent="0" algn="r">
              <a:buNone/>
            </a:pPr>
            <a:r>
              <a:rPr lang="en-US" sz="850" dirty="0">
                <a:solidFill>
                  <a:schemeClr val="bg1">
                    <a:lumMod val="85000"/>
                  </a:schemeClr>
                </a:solidFill>
                <a:latin typeface="Calibri" pitchFamily="34" charset="0"/>
                <a:ea typeface="Calibri" pitchFamily="34" charset="-122"/>
                <a:cs typeface="Calibri" pitchFamily="34" charset="-120"/>
              </a:rPr>
              <a:t>Slide 1 · What WrenchIQ Is</a:t>
            </a:r>
            <a:endParaRPr lang="en-US" sz="850" dirty="0">
              <a:solidFill>
                <a:schemeClr val="bg1">
                  <a:lumMod val="85000"/>
                </a:schemeClr>
              </a:solidFill>
            </a:endParaRPr>
          </a:p>
        </p:txBody>
      </p:sp>
      <p:pic>
        <p:nvPicPr>
          <p:cNvPr id="9" name="Picture 8" descr="A picture containing diagram&#10;&#10;Description automatically generated">
            <a:extLst>
              <a:ext uri="{FF2B5EF4-FFF2-40B4-BE49-F238E27FC236}">
                <a16:creationId xmlns:a16="http://schemas.microsoft.com/office/drawing/2014/main" id="{2AE922C4-B74E-6BDA-FB3F-4099C27A5E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25788" y="367877"/>
            <a:ext cx="1447352" cy="82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07008"/>
          </a:xfrm>
          <a:prstGeom prst="rect">
            <a:avLst/>
          </a:prstGeom>
          <a:solidFill>
            <a:srgbClr val="1A2456"/>
          </a:solidFill>
          <a:ln/>
        </p:spPr>
        <p:txBody>
          <a:bodyPr/>
          <a:lstStyle/>
          <a:p>
            <a:endParaRPr lang="en-US" dirty="0"/>
          </a:p>
        </p:txBody>
      </p:sp>
      <p:sp>
        <p:nvSpPr>
          <p:cNvPr id="3" name="Text 1"/>
          <p:cNvSpPr/>
          <p:nvPr/>
        </p:nvSpPr>
        <p:spPr>
          <a:xfrm>
            <a:off x="502920" y="256032"/>
            <a:ext cx="10972800" cy="274320"/>
          </a:xfrm>
          <a:prstGeom prst="rect">
            <a:avLst/>
          </a:prstGeom>
          <a:noFill/>
          <a:ln/>
        </p:spPr>
        <p:txBody>
          <a:bodyPr wrap="square" rtlCol="0" anchor="ctr"/>
          <a:lstStyle/>
          <a:p>
            <a:pPr marL="0" indent="0">
              <a:buNone/>
            </a:pPr>
            <a:r>
              <a:rPr lang="en-US" sz="1100" b="1" kern="0" spc="300" dirty="0">
                <a:solidFill>
                  <a:srgbClr val="C8D8F8"/>
                </a:solidFill>
                <a:latin typeface="Calibri" pitchFamily="34" charset="0"/>
                <a:ea typeface="Calibri" pitchFamily="34" charset="-122"/>
                <a:cs typeface="Calibri" pitchFamily="34" charset="-120"/>
              </a:rPr>
              <a:t>THE SHOP FLOOR TODAY</a:t>
            </a:r>
            <a:endParaRPr lang="en-US" sz="1100" dirty="0"/>
          </a:p>
        </p:txBody>
      </p:sp>
      <p:sp>
        <p:nvSpPr>
          <p:cNvPr id="4" name="Text 2"/>
          <p:cNvSpPr/>
          <p:nvPr/>
        </p:nvSpPr>
        <p:spPr>
          <a:xfrm>
            <a:off x="502920" y="530352"/>
            <a:ext cx="11155680" cy="56692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Good People - Blind Spots Built Into the Day</a:t>
            </a:r>
            <a:endParaRPr lang="en-US" sz="2800" dirty="0"/>
          </a:p>
        </p:txBody>
      </p:sp>
      <p:sp>
        <p:nvSpPr>
          <p:cNvPr id="5" name="Shape 3"/>
          <p:cNvSpPr/>
          <p:nvPr/>
        </p:nvSpPr>
        <p:spPr>
          <a:xfrm>
            <a:off x="502920" y="1719885"/>
            <a:ext cx="3483864" cy="2148840"/>
          </a:xfrm>
          <a:prstGeom prst="roundRect">
            <a:avLst>
              <a:gd name="adj" fmla="val 3404"/>
            </a:avLst>
          </a:prstGeom>
          <a:solidFill>
            <a:srgbClr val="F3F6FC"/>
          </a:solidFill>
          <a:ln w="12700">
            <a:solidFill>
              <a:srgbClr val="E1E8F5"/>
            </a:solidFill>
            <a:prstDash val="solid"/>
          </a:ln>
        </p:spPr>
        <p:txBody>
          <a:bodyPr/>
          <a:lstStyle/>
          <a:p>
            <a:endParaRPr lang="en-US" dirty="0"/>
          </a:p>
        </p:txBody>
      </p:sp>
      <p:sp>
        <p:nvSpPr>
          <p:cNvPr id="6" name="Shape 4"/>
          <p:cNvSpPr/>
          <p:nvPr/>
        </p:nvSpPr>
        <p:spPr>
          <a:xfrm>
            <a:off x="758952" y="1795301"/>
            <a:ext cx="502920" cy="502920"/>
          </a:xfrm>
          <a:prstGeom prst="ellipse">
            <a:avLst/>
          </a:prstGeom>
          <a:solidFill>
            <a:srgbClr val="1A2456"/>
          </a:solidFill>
          <a:ln/>
        </p:spPr>
        <p:txBody>
          <a:bodyPr/>
          <a:lstStyle/>
          <a:p>
            <a:endParaRPr lang="en-US" dirty="0"/>
          </a:p>
        </p:txBody>
      </p:sp>
      <p:sp>
        <p:nvSpPr>
          <p:cNvPr id="7" name="Text 5"/>
          <p:cNvSpPr/>
          <p:nvPr/>
        </p:nvSpPr>
        <p:spPr>
          <a:xfrm>
            <a:off x="758952" y="1795301"/>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758952" y="2509336"/>
            <a:ext cx="3080044" cy="45720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Margin is invisible at the counter</a:t>
            </a:r>
            <a:endParaRPr lang="en-US" sz="1600" dirty="0"/>
          </a:p>
        </p:txBody>
      </p:sp>
      <p:sp>
        <p:nvSpPr>
          <p:cNvPr id="9" name="Text 7"/>
          <p:cNvSpPr/>
          <p:nvPr/>
        </p:nvSpPr>
        <p:spPr>
          <a:xfrm>
            <a:off x="758952" y="3086211"/>
            <a:ext cx="2971800" cy="777240"/>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Advisors build estimates without seeing parts margin - it's only known at the month-end report.</a:t>
            </a:r>
            <a:endParaRPr lang="en-US" sz="1400" dirty="0"/>
          </a:p>
        </p:txBody>
      </p:sp>
      <p:sp>
        <p:nvSpPr>
          <p:cNvPr id="10" name="Shape 8"/>
          <p:cNvSpPr/>
          <p:nvPr/>
        </p:nvSpPr>
        <p:spPr>
          <a:xfrm>
            <a:off x="4352544" y="1719885"/>
            <a:ext cx="3483864" cy="2148840"/>
          </a:xfrm>
          <a:prstGeom prst="roundRect">
            <a:avLst>
              <a:gd name="adj" fmla="val 3404"/>
            </a:avLst>
          </a:prstGeom>
          <a:solidFill>
            <a:srgbClr val="F3F6FC"/>
          </a:solidFill>
          <a:ln w="12700">
            <a:solidFill>
              <a:srgbClr val="E1E8F5"/>
            </a:solidFill>
            <a:prstDash val="solid"/>
          </a:ln>
        </p:spPr>
        <p:txBody>
          <a:bodyPr/>
          <a:lstStyle/>
          <a:p>
            <a:endParaRPr lang="en-US" dirty="0"/>
          </a:p>
        </p:txBody>
      </p:sp>
      <p:sp>
        <p:nvSpPr>
          <p:cNvPr id="11" name="Shape 9"/>
          <p:cNvSpPr/>
          <p:nvPr/>
        </p:nvSpPr>
        <p:spPr>
          <a:xfrm>
            <a:off x="4608576" y="1795301"/>
            <a:ext cx="502920" cy="502920"/>
          </a:xfrm>
          <a:prstGeom prst="ellipse">
            <a:avLst/>
          </a:prstGeom>
          <a:solidFill>
            <a:srgbClr val="1A2456"/>
          </a:solidFill>
          <a:ln/>
        </p:spPr>
        <p:txBody>
          <a:bodyPr/>
          <a:lstStyle/>
          <a:p>
            <a:endParaRPr lang="en-US" dirty="0"/>
          </a:p>
        </p:txBody>
      </p:sp>
      <p:sp>
        <p:nvSpPr>
          <p:cNvPr id="12" name="Text 10"/>
          <p:cNvSpPr/>
          <p:nvPr/>
        </p:nvSpPr>
        <p:spPr>
          <a:xfrm>
            <a:off x="4608576" y="1795301"/>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4608576" y="2509336"/>
            <a:ext cx="3080044" cy="45720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Service recommendations &amp; complete parts requirements often depend on who's working</a:t>
            </a:r>
            <a:endParaRPr lang="en-US" sz="1600" dirty="0"/>
          </a:p>
        </p:txBody>
      </p:sp>
      <p:sp>
        <p:nvSpPr>
          <p:cNvPr id="14" name="Text 12"/>
          <p:cNvSpPr/>
          <p:nvPr/>
        </p:nvSpPr>
        <p:spPr>
          <a:xfrm>
            <a:off x="4608576" y="3086211"/>
            <a:ext cx="3080044" cy="777240"/>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Related repairs and due services get caught by your best advisors and often missed by everyone else.</a:t>
            </a:r>
            <a:endParaRPr lang="en-US" sz="1400" dirty="0"/>
          </a:p>
        </p:txBody>
      </p:sp>
      <p:sp>
        <p:nvSpPr>
          <p:cNvPr id="15" name="Shape 13"/>
          <p:cNvSpPr/>
          <p:nvPr/>
        </p:nvSpPr>
        <p:spPr>
          <a:xfrm>
            <a:off x="8202168" y="1719885"/>
            <a:ext cx="3483864" cy="2148840"/>
          </a:xfrm>
          <a:prstGeom prst="roundRect">
            <a:avLst>
              <a:gd name="adj" fmla="val 3404"/>
            </a:avLst>
          </a:prstGeom>
          <a:solidFill>
            <a:srgbClr val="F3F6FC"/>
          </a:solidFill>
          <a:ln w="12700">
            <a:solidFill>
              <a:srgbClr val="E1E8F5"/>
            </a:solidFill>
            <a:prstDash val="solid"/>
          </a:ln>
        </p:spPr>
        <p:txBody>
          <a:bodyPr/>
          <a:lstStyle/>
          <a:p>
            <a:endParaRPr lang="en-US" dirty="0"/>
          </a:p>
        </p:txBody>
      </p:sp>
      <p:sp>
        <p:nvSpPr>
          <p:cNvPr id="16" name="Shape 14"/>
          <p:cNvSpPr/>
          <p:nvPr/>
        </p:nvSpPr>
        <p:spPr>
          <a:xfrm>
            <a:off x="8458200" y="1795301"/>
            <a:ext cx="502920" cy="502920"/>
          </a:xfrm>
          <a:prstGeom prst="ellipse">
            <a:avLst/>
          </a:prstGeom>
          <a:solidFill>
            <a:srgbClr val="1A2456"/>
          </a:solidFill>
          <a:ln/>
        </p:spPr>
        <p:txBody>
          <a:bodyPr/>
          <a:lstStyle/>
          <a:p>
            <a:endParaRPr lang="en-US" dirty="0"/>
          </a:p>
        </p:txBody>
      </p:sp>
      <p:sp>
        <p:nvSpPr>
          <p:cNvPr id="17" name="Text 15"/>
          <p:cNvSpPr/>
          <p:nvPr/>
        </p:nvSpPr>
        <p:spPr>
          <a:xfrm>
            <a:off x="8458200" y="1795301"/>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8458200" y="2509336"/>
            <a:ext cx="3080044" cy="45720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Priorities don't reach the RO</a:t>
            </a:r>
            <a:endParaRPr lang="en-US" sz="1600" dirty="0"/>
          </a:p>
        </p:txBody>
      </p:sp>
      <p:sp>
        <p:nvSpPr>
          <p:cNvPr id="19" name="Text 17"/>
          <p:cNvSpPr/>
          <p:nvPr/>
        </p:nvSpPr>
        <p:spPr>
          <a:xfrm>
            <a:off x="8458200" y="3086211"/>
            <a:ext cx="2971800" cy="777240"/>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The promo or margin push you set Monday is gone by Wednesday's full lobby and ringing phone.</a:t>
            </a:r>
            <a:endParaRPr lang="en-US" sz="1400" dirty="0"/>
          </a:p>
        </p:txBody>
      </p:sp>
      <p:sp>
        <p:nvSpPr>
          <p:cNvPr id="20" name="Shape 18"/>
          <p:cNvSpPr/>
          <p:nvPr/>
        </p:nvSpPr>
        <p:spPr>
          <a:xfrm>
            <a:off x="502920" y="4179189"/>
            <a:ext cx="11183112" cy="1589668"/>
          </a:xfrm>
          <a:prstGeom prst="roundRect">
            <a:avLst>
              <a:gd name="adj" fmla="val 3902"/>
            </a:avLst>
          </a:prstGeom>
          <a:solidFill>
            <a:srgbClr val="1A2340"/>
          </a:solidFill>
          <a:ln/>
        </p:spPr>
        <p:txBody>
          <a:bodyPr/>
          <a:lstStyle/>
          <a:p>
            <a:endParaRPr lang="en-US" dirty="0"/>
          </a:p>
        </p:txBody>
      </p:sp>
      <p:sp>
        <p:nvSpPr>
          <p:cNvPr id="21" name="Text 19"/>
          <p:cNvSpPr/>
          <p:nvPr/>
        </p:nvSpPr>
        <p:spPr>
          <a:xfrm>
            <a:off x="868680" y="4407789"/>
            <a:ext cx="10424160" cy="320040"/>
          </a:xfrm>
          <a:prstGeom prst="rect">
            <a:avLst/>
          </a:prstGeom>
          <a:noFill/>
          <a:ln/>
        </p:spPr>
        <p:txBody>
          <a:bodyPr wrap="square" rtlCol="0" anchor="ctr"/>
          <a:lstStyle/>
          <a:p>
            <a:pPr marL="0" indent="0">
              <a:buNone/>
            </a:pPr>
            <a:r>
              <a:rPr lang="en-US" sz="1600" b="1" kern="0" spc="200" dirty="0">
                <a:solidFill>
                  <a:srgbClr val="C8D8F8"/>
                </a:solidFill>
                <a:latin typeface="Calibri" pitchFamily="34" charset="0"/>
                <a:ea typeface="Calibri" pitchFamily="34" charset="-122"/>
                <a:cs typeface="Calibri" pitchFamily="34" charset="-120"/>
              </a:rPr>
              <a:t>WHY HASN'T YOUR SHOP SYSTEM CAUGHT THIS?</a:t>
            </a:r>
            <a:endParaRPr lang="en-US" sz="1600" dirty="0"/>
          </a:p>
        </p:txBody>
      </p:sp>
      <p:sp>
        <p:nvSpPr>
          <p:cNvPr id="22" name="Text 20"/>
          <p:cNvSpPr/>
          <p:nvPr/>
        </p:nvSpPr>
        <p:spPr>
          <a:xfrm>
            <a:off x="868680" y="4773549"/>
            <a:ext cx="10424160" cy="1097280"/>
          </a:xfrm>
          <a:prstGeom prst="rect">
            <a:avLst/>
          </a:prstGeom>
          <a:noFill/>
          <a:ln/>
        </p:spPr>
        <p:txBody>
          <a:bodyPr wrap="square" rtlCol="0" anchor="ctr"/>
          <a:lstStyle/>
          <a:p>
            <a:pPr marL="0" indent="0">
              <a:lnSpc>
                <a:spcPct val="110000"/>
              </a:lnSpc>
              <a:buNone/>
            </a:pPr>
            <a:endParaRPr lang="en-US" sz="1600" dirty="0"/>
          </a:p>
        </p:txBody>
      </p:sp>
      <p:sp>
        <p:nvSpPr>
          <p:cNvPr id="23" name="Text 21"/>
          <p:cNvSpPr/>
          <p:nvPr/>
        </p:nvSpPr>
        <p:spPr>
          <a:xfrm>
            <a:off x="502920" y="6446520"/>
            <a:ext cx="7315200" cy="274320"/>
          </a:xfrm>
          <a:prstGeom prst="rect">
            <a:avLst/>
          </a:prstGeom>
          <a:noFill/>
          <a:ln/>
        </p:spPr>
        <p:txBody>
          <a:bodyPr wrap="square" rtlCol="0" anchor="ctr"/>
          <a:lstStyle/>
          <a:p>
            <a:pPr marL="0" indent="0" algn="l">
              <a:buNone/>
            </a:pPr>
            <a:r>
              <a:rPr lang="en-US" sz="850" b="1" kern="0" spc="100" dirty="0">
                <a:solidFill>
                  <a:srgbClr val="5B6B8C"/>
                </a:solidFill>
                <a:latin typeface="Calibri" pitchFamily="34" charset="0"/>
                <a:ea typeface="Calibri" pitchFamily="34" charset="-122"/>
                <a:cs typeface="Calibri" pitchFamily="34" charset="-120"/>
              </a:rPr>
              <a:t>PREDII CONFIDENTIAL</a:t>
            </a:r>
            <a:r>
              <a:rPr lang="en-US" sz="850" kern="0" spc="100" dirty="0">
                <a:solidFill>
                  <a:srgbClr val="5B6B8C"/>
                </a:solidFill>
                <a:latin typeface="Calibri" pitchFamily="34" charset="0"/>
                <a:ea typeface="Calibri" pitchFamily="34" charset="-122"/>
                <a:cs typeface="Calibri" pitchFamily="34" charset="-120"/>
              </a:rPr>
              <a:t>   |   WRENCHIQ INTRODUCTION</a:t>
            </a:r>
            <a:endParaRPr lang="en-US" sz="850" dirty="0"/>
          </a:p>
        </p:txBody>
      </p:sp>
      <p:sp>
        <p:nvSpPr>
          <p:cNvPr id="24" name="Text 22"/>
          <p:cNvSpPr/>
          <p:nvPr/>
        </p:nvSpPr>
        <p:spPr>
          <a:xfrm>
            <a:off x="4873752" y="6446520"/>
            <a:ext cx="6812280" cy="274320"/>
          </a:xfrm>
          <a:prstGeom prst="rect">
            <a:avLst/>
          </a:prstGeom>
          <a:noFill/>
          <a:ln/>
        </p:spPr>
        <p:txBody>
          <a:bodyPr wrap="square" rtlCol="0" anchor="ctr"/>
          <a:lstStyle/>
          <a:p>
            <a:pPr marL="0" indent="0" algn="r">
              <a:buNone/>
            </a:pPr>
            <a:r>
              <a:rPr lang="en-US" sz="850" dirty="0">
                <a:solidFill>
                  <a:srgbClr val="5B6B8C"/>
                </a:solidFill>
                <a:latin typeface="Calibri" pitchFamily="34" charset="0"/>
                <a:ea typeface="Calibri" pitchFamily="34" charset="-122"/>
                <a:cs typeface="Calibri" pitchFamily="34" charset="-120"/>
              </a:rPr>
              <a:t>Slide 2 · The Shop Floor Today</a:t>
            </a:r>
            <a:endParaRPr lang="en-US" sz="850" dirty="0"/>
          </a:p>
        </p:txBody>
      </p:sp>
      <p:sp>
        <p:nvSpPr>
          <p:cNvPr id="26" name="TextBox 25">
            <a:extLst>
              <a:ext uri="{FF2B5EF4-FFF2-40B4-BE49-F238E27FC236}">
                <a16:creationId xmlns:a16="http://schemas.microsoft.com/office/drawing/2014/main" id="{25013B2B-21F3-638E-46CE-7FA0E26919DF}"/>
              </a:ext>
            </a:extLst>
          </p:cNvPr>
          <p:cNvSpPr txBox="1"/>
          <p:nvPr/>
        </p:nvSpPr>
        <p:spPr>
          <a:xfrm>
            <a:off x="868680" y="4841114"/>
            <a:ext cx="10561320" cy="584775"/>
          </a:xfrm>
          <a:prstGeom prst="rect">
            <a:avLst/>
          </a:prstGeom>
          <a:noFill/>
        </p:spPr>
        <p:txBody>
          <a:bodyPr wrap="square">
            <a:spAutoFit/>
          </a:bodyPr>
          <a:lstStyle/>
          <a:p>
            <a:r>
              <a:rPr lang="en-US" sz="1600" dirty="0">
                <a:solidFill>
                  <a:schemeClr val="bg1"/>
                </a:solidFill>
              </a:rPr>
              <a:t>Shop management systems were built to record work, not interpret it - </a:t>
            </a:r>
            <a:r>
              <a:rPr lang="en-US" sz="1600" dirty="0">
                <a:solidFill>
                  <a:schemeClr val="accent1">
                    <a:lumMod val="40000"/>
                    <a:lumOff val="60000"/>
                  </a:schemeClr>
                </a:solidFill>
              </a:rPr>
              <a:t>WrenchIQ fills that gap</a:t>
            </a:r>
            <a:r>
              <a:rPr lang="en-US" sz="1600" dirty="0">
                <a:solidFill>
                  <a:schemeClr val="bg1"/>
                </a:solidFill>
              </a:rPr>
              <a:t>: leveraging AI to read the RO and surface evidence-based recommendations while the vehicle is on the lift and the customer is still in front of you.</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07008"/>
          </a:xfrm>
          <a:prstGeom prst="rect">
            <a:avLst/>
          </a:prstGeom>
          <a:solidFill>
            <a:srgbClr val="1A2456"/>
          </a:solidFill>
          <a:ln/>
        </p:spPr>
        <p:txBody>
          <a:bodyPr/>
          <a:lstStyle/>
          <a:p>
            <a:endParaRPr lang="en-US" dirty="0"/>
          </a:p>
        </p:txBody>
      </p:sp>
      <p:sp>
        <p:nvSpPr>
          <p:cNvPr id="3" name="Text 1"/>
          <p:cNvSpPr/>
          <p:nvPr/>
        </p:nvSpPr>
        <p:spPr>
          <a:xfrm>
            <a:off x="502920" y="256032"/>
            <a:ext cx="10972800" cy="274320"/>
          </a:xfrm>
          <a:prstGeom prst="rect">
            <a:avLst/>
          </a:prstGeom>
          <a:noFill/>
          <a:ln/>
        </p:spPr>
        <p:txBody>
          <a:bodyPr wrap="square" rtlCol="0" anchor="ctr"/>
          <a:lstStyle/>
          <a:p>
            <a:pPr marL="0" indent="0">
              <a:buNone/>
            </a:pPr>
            <a:r>
              <a:rPr lang="en-US" sz="1100" b="1" kern="0" spc="300" dirty="0">
                <a:solidFill>
                  <a:srgbClr val="C8D8F8"/>
                </a:solidFill>
                <a:latin typeface="Calibri" pitchFamily="34" charset="0"/>
                <a:ea typeface="Calibri" pitchFamily="34" charset="-122"/>
                <a:cs typeface="Calibri" pitchFamily="34" charset="-120"/>
              </a:rPr>
              <a:t>WHAT IT DOES</a:t>
            </a:r>
            <a:endParaRPr lang="en-US" sz="1100" dirty="0"/>
          </a:p>
        </p:txBody>
      </p:sp>
      <p:sp>
        <p:nvSpPr>
          <p:cNvPr id="4" name="Text 2"/>
          <p:cNvSpPr/>
          <p:nvPr/>
        </p:nvSpPr>
        <p:spPr>
          <a:xfrm>
            <a:off x="502920" y="530352"/>
            <a:ext cx="11155680" cy="56692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Three Jobs, Done in Real Time on Every RO</a:t>
            </a:r>
            <a:endParaRPr lang="en-US" sz="2800" dirty="0"/>
          </a:p>
        </p:txBody>
      </p:sp>
      <p:sp>
        <p:nvSpPr>
          <p:cNvPr id="5" name="Shape 3"/>
          <p:cNvSpPr/>
          <p:nvPr/>
        </p:nvSpPr>
        <p:spPr>
          <a:xfrm>
            <a:off x="502920" y="1554480"/>
            <a:ext cx="3483864" cy="4297680"/>
          </a:xfrm>
          <a:prstGeom prst="roundRect">
            <a:avLst>
              <a:gd name="adj" fmla="val 1575"/>
            </a:avLst>
          </a:prstGeom>
          <a:solidFill>
            <a:srgbClr val="FFFFFF"/>
          </a:solidFill>
          <a:ln w="12700">
            <a:solidFill>
              <a:srgbClr val="E1E8F5"/>
            </a:solidFill>
            <a:prstDash val="solid"/>
          </a:ln>
        </p:spPr>
        <p:txBody>
          <a:bodyPr/>
          <a:lstStyle/>
          <a:p>
            <a:endParaRPr lang="en-US" dirty="0"/>
          </a:p>
        </p:txBody>
      </p:sp>
      <p:sp>
        <p:nvSpPr>
          <p:cNvPr id="6" name="Shape 4"/>
          <p:cNvSpPr/>
          <p:nvPr/>
        </p:nvSpPr>
        <p:spPr>
          <a:xfrm>
            <a:off x="502920" y="1554480"/>
            <a:ext cx="3483864" cy="1051560"/>
          </a:xfrm>
          <a:prstGeom prst="roundRect">
            <a:avLst>
              <a:gd name="adj" fmla="val 5217"/>
            </a:avLst>
          </a:prstGeom>
          <a:solidFill>
            <a:srgbClr val="1A2456"/>
          </a:solidFill>
          <a:ln/>
        </p:spPr>
        <p:txBody>
          <a:bodyPr/>
          <a:lstStyle/>
          <a:p>
            <a:endParaRPr lang="en-US" dirty="0"/>
          </a:p>
        </p:txBody>
      </p:sp>
      <p:sp>
        <p:nvSpPr>
          <p:cNvPr id="7" name="Shape 5"/>
          <p:cNvSpPr/>
          <p:nvPr/>
        </p:nvSpPr>
        <p:spPr>
          <a:xfrm>
            <a:off x="502920" y="2057400"/>
            <a:ext cx="3483864" cy="548640"/>
          </a:xfrm>
          <a:prstGeom prst="rect">
            <a:avLst/>
          </a:prstGeom>
          <a:solidFill>
            <a:srgbClr val="1A2456"/>
          </a:solidFill>
          <a:ln/>
        </p:spPr>
        <p:txBody>
          <a:bodyPr/>
          <a:lstStyle/>
          <a:p>
            <a:endParaRPr lang="en-US" dirty="0"/>
          </a:p>
        </p:txBody>
      </p:sp>
      <p:sp>
        <p:nvSpPr>
          <p:cNvPr id="8" name="Text 6"/>
          <p:cNvSpPr/>
          <p:nvPr/>
        </p:nvSpPr>
        <p:spPr>
          <a:xfrm>
            <a:off x="777240" y="1847088"/>
            <a:ext cx="2935224" cy="457200"/>
          </a:xfrm>
          <a:prstGeom prst="rect">
            <a:avLst/>
          </a:prstGeom>
          <a:noFill/>
          <a:ln/>
        </p:spPr>
        <p:txBody>
          <a:bodyPr wrap="square" rtlCol="0" anchor="ctr"/>
          <a:lstStyle/>
          <a:p>
            <a:pPr marL="0" indent="0">
              <a:buNone/>
            </a:pPr>
            <a:r>
              <a:rPr lang="en-US" sz="1500" b="1" kern="0" spc="300" dirty="0">
                <a:solidFill>
                  <a:srgbClr val="FFFFFF"/>
                </a:solidFill>
                <a:latin typeface="Calibri" pitchFamily="34" charset="0"/>
                <a:ea typeface="Calibri" pitchFamily="34" charset="-122"/>
                <a:cs typeface="Calibri" pitchFamily="34" charset="-120"/>
              </a:rPr>
              <a:t>JOB 1</a:t>
            </a:r>
            <a:endParaRPr lang="en-US" sz="1500" dirty="0"/>
          </a:p>
        </p:txBody>
      </p:sp>
      <p:sp>
        <p:nvSpPr>
          <p:cNvPr id="9" name="Text 7"/>
          <p:cNvSpPr/>
          <p:nvPr/>
        </p:nvSpPr>
        <p:spPr>
          <a:xfrm>
            <a:off x="777240" y="2788920"/>
            <a:ext cx="2935224" cy="82296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Intake &amp; Diagnosis Intelligence</a:t>
            </a:r>
            <a:endParaRPr lang="en-US" sz="1600" dirty="0"/>
          </a:p>
        </p:txBody>
      </p:sp>
      <p:sp>
        <p:nvSpPr>
          <p:cNvPr id="10" name="Text 8"/>
          <p:cNvSpPr/>
          <p:nvPr/>
        </p:nvSpPr>
        <p:spPr>
          <a:xfrm>
            <a:off x="777240" y="3477832"/>
            <a:ext cx="2935224" cy="1463040"/>
          </a:xfrm>
          <a:prstGeom prst="rect">
            <a:avLst/>
          </a:prstGeom>
          <a:noFill/>
          <a:ln/>
        </p:spPr>
        <p:txBody>
          <a:bodyPr wrap="square" rtlCol="0" anchor="ctr"/>
          <a:lstStyle/>
          <a:p>
            <a:pPr marL="0" indent="0">
              <a:lnSpc>
                <a:spcPct val="105000"/>
              </a:lnSpc>
              <a:buNone/>
            </a:pPr>
            <a:r>
              <a:rPr lang="en-US" sz="1400" dirty="0">
                <a:solidFill>
                  <a:srgbClr val="5B6B8C"/>
                </a:solidFill>
                <a:latin typeface="Calibri" pitchFamily="34" charset="0"/>
                <a:ea typeface="Calibri" pitchFamily="34" charset="-122"/>
                <a:cs typeface="Calibri" pitchFamily="34" charset="-120"/>
              </a:rPr>
              <a:t>Reads each RO as it's written and recommends related repairs, due maintenance, and TSBs for that exact vehicle.</a:t>
            </a:r>
            <a:endParaRPr lang="en-US" sz="1400" dirty="0"/>
          </a:p>
        </p:txBody>
      </p:sp>
      <p:sp>
        <p:nvSpPr>
          <p:cNvPr id="11" name="Shape 9"/>
          <p:cNvSpPr/>
          <p:nvPr/>
        </p:nvSpPr>
        <p:spPr>
          <a:xfrm>
            <a:off x="681496" y="4983480"/>
            <a:ext cx="3167913" cy="685800"/>
          </a:xfrm>
          <a:prstGeom prst="roundRect">
            <a:avLst>
              <a:gd name="adj" fmla="val 8000"/>
            </a:avLst>
          </a:prstGeom>
          <a:solidFill>
            <a:srgbClr val="F3F6FC"/>
          </a:solidFill>
          <a:ln/>
        </p:spPr>
        <p:txBody>
          <a:bodyPr/>
          <a:lstStyle/>
          <a:p>
            <a:endParaRPr lang="en-US" sz="2000" dirty="0"/>
          </a:p>
        </p:txBody>
      </p:sp>
      <p:sp>
        <p:nvSpPr>
          <p:cNvPr id="12" name="Text 10"/>
          <p:cNvSpPr/>
          <p:nvPr/>
        </p:nvSpPr>
        <p:spPr>
          <a:xfrm>
            <a:off x="727217" y="4983480"/>
            <a:ext cx="3069224" cy="685800"/>
          </a:xfrm>
          <a:prstGeom prst="rect">
            <a:avLst/>
          </a:prstGeom>
          <a:noFill/>
          <a:ln/>
        </p:spPr>
        <p:txBody>
          <a:bodyPr wrap="square" rtlCol="0" anchor="ctr"/>
          <a:lstStyle/>
          <a:p>
            <a:pPr marL="0" indent="0" algn="ctr">
              <a:buNone/>
            </a:pPr>
            <a:r>
              <a:rPr lang="en-US" sz="1400" b="1" dirty="0">
                <a:solidFill>
                  <a:srgbClr val="1A2456"/>
                </a:solidFill>
                <a:latin typeface="Calibri" pitchFamily="34" charset="0"/>
                <a:ea typeface="Calibri" pitchFamily="34" charset="-122"/>
                <a:cs typeface="Calibri" pitchFamily="34" charset="-120"/>
              </a:rPr>
              <a:t>Higher average RO  ·  Fewer comebacks</a:t>
            </a:r>
            <a:endParaRPr lang="en-US" sz="1400" dirty="0"/>
          </a:p>
        </p:txBody>
      </p:sp>
      <p:sp>
        <p:nvSpPr>
          <p:cNvPr id="13" name="Shape 11"/>
          <p:cNvSpPr/>
          <p:nvPr/>
        </p:nvSpPr>
        <p:spPr>
          <a:xfrm>
            <a:off x="4352544" y="1554480"/>
            <a:ext cx="3483864" cy="4297680"/>
          </a:xfrm>
          <a:prstGeom prst="roundRect">
            <a:avLst>
              <a:gd name="adj" fmla="val 1575"/>
            </a:avLst>
          </a:prstGeom>
          <a:solidFill>
            <a:srgbClr val="FFFFFF"/>
          </a:solidFill>
          <a:ln w="12700">
            <a:solidFill>
              <a:srgbClr val="E1E8F5"/>
            </a:solidFill>
            <a:prstDash val="solid"/>
          </a:ln>
        </p:spPr>
        <p:txBody>
          <a:bodyPr/>
          <a:lstStyle/>
          <a:p>
            <a:endParaRPr lang="en-US" dirty="0"/>
          </a:p>
        </p:txBody>
      </p:sp>
      <p:sp>
        <p:nvSpPr>
          <p:cNvPr id="14" name="Shape 12"/>
          <p:cNvSpPr/>
          <p:nvPr/>
        </p:nvSpPr>
        <p:spPr>
          <a:xfrm>
            <a:off x="4352544" y="1554480"/>
            <a:ext cx="3483864" cy="1051560"/>
          </a:xfrm>
          <a:prstGeom prst="roundRect">
            <a:avLst>
              <a:gd name="adj" fmla="val 5217"/>
            </a:avLst>
          </a:prstGeom>
          <a:solidFill>
            <a:srgbClr val="0278B5"/>
          </a:solidFill>
          <a:ln/>
        </p:spPr>
        <p:txBody>
          <a:bodyPr/>
          <a:lstStyle/>
          <a:p>
            <a:endParaRPr lang="en-US" dirty="0"/>
          </a:p>
        </p:txBody>
      </p:sp>
      <p:sp>
        <p:nvSpPr>
          <p:cNvPr id="15" name="Shape 13"/>
          <p:cNvSpPr/>
          <p:nvPr/>
        </p:nvSpPr>
        <p:spPr>
          <a:xfrm>
            <a:off x="4352544" y="2057400"/>
            <a:ext cx="3483864" cy="548640"/>
          </a:xfrm>
          <a:prstGeom prst="rect">
            <a:avLst/>
          </a:prstGeom>
          <a:solidFill>
            <a:srgbClr val="0278B5"/>
          </a:solidFill>
          <a:ln/>
        </p:spPr>
        <p:txBody>
          <a:bodyPr/>
          <a:lstStyle/>
          <a:p>
            <a:endParaRPr lang="en-US" dirty="0"/>
          </a:p>
        </p:txBody>
      </p:sp>
      <p:sp>
        <p:nvSpPr>
          <p:cNvPr id="16" name="Text 14"/>
          <p:cNvSpPr/>
          <p:nvPr/>
        </p:nvSpPr>
        <p:spPr>
          <a:xfrm>
            <a:off x="4626864" y="1847088"/>
            <a:ext cx="2935224" cy="457200"/>
          </a:xfrm>
          <a:prstGeom prst="rect">
            <a:avLst/>
          </a:prstGeom>
          <a:noFill/>
          <a:ln/>
        </p:spPr>
        <p:txBody>
          <a:bodyPr wrap="square" rtlCol="0" anchor="ctr"/>
          <a:lstStyle/>
          <a:p>
            <a:pPr marL="0" indent="0">
              <a:buNone/>
            </a:pPr>
            <a:r>
              <a:rPr lang="en-US" sz="1500" b="1" kern="0" spc="300" dirty="0">
                <a:solidFill>
                  <a:srgbClr val="FFFFFF"/>
                </a:solidFill>
                <a:latin typeface="Calibri" pitchFamily="34" charset="0"/>
                <a:ea typeface="Calibri" pitchFamily="34" charset="-122"/>
                <a:cs typeface="Calibri" pitchFamily="34" charset="-120"/>
              </a:rPr>
              <a:t>JOB 2</a:t>
            </a:r>
            <a:endParaRPr lang="en-US" sz="1500" dirty="0"/>
          </a:p>
        </p:txBody>
      </p:sp>
      <p:sp>
        <p:nvSpPr>
          <p:cNvPr id="17" name="Text 15"/>
          <p:cNvSpPr/>
          <p:nvPr/>
        </p:nvSpPr>
        <p:spPr>
          <a:xfrm>
            <a:off x="4626864" y="2788920"/>
            <a:ext cx="2935224" cy="82296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RO Narration &amp; Customer Trust</a:t>
            </a:r>
            <a:endParaRPr lang="en-US" sz="1600" dirty="0"/>
          </a:p>
        </p:txBody>
      </p:sp>
      <p:sp>
        <p:nvSpPr>
          <p:cNvPr id="18" name="Text 16"/>
          <p:cNvSpPr/>
          <p:nvPr/>
        </p:nvSpPr>
        <p:spPr>
          <a:xfrm>
            <a:off x="4626864" y="3477832"/>
            <a:ext cx="2935224" cy="1463040"/>
          </a:xfrm>
          <a:prstGeom prst="rect">
            <a:avLst/>
          </a:prstGeom>
          <a:noFill/>
          <a:ln/>
        </p:spPr>
        <p:txBody>
          <a:bodyPr wrap="square" rtlCol="0" anchor="ctr"/>
          <a:lstStyle/>
          <a:p>
            <a:pPr marL="0" indent="0">
              <a:lnSpc>
                <a:spcPct val="105000"/>
              </a:lnSpc>
              <a:buNone/>
            </a:pPr>
            <a:r>
              <a:rPr lang="en-US" sz="1400" dirty="0">
                <a:solidFill>
                  <a:srgbClr val="5B6B8C"/>
                </a:solidFill>
                <a:latin typeface="Calibri" pitchFamily="34" charset="0"/>
                <a:ea typeface="Calibri" pitchFamily="34" charset="-122"/>
                <a:cs typeface="Calibri" pitchFamily="34" charset="-120"/>
              </a:rPr>
              <a:t>Auto-writes clear complaint–cause–correction stories and customer talk tracks — because techs aren't writers.</a:t>
            </a:r>
            <a:endParaRPr lang="en-US" sz="1400" dirty="0"/>
          </a:p>
        </p:txBody>
      </p:sp>
      <p:sp>
        <p:nvSpPr>
          <p:cNvPr id="19" name="Shape 17"/>
          <p:cNvSpPr/>
          <p:nvPr/>
        </p:nvSpPr>
        <p:spPr>
          <a:xfrm>
            <a:off x="4531120" y="4983480"/>
            <a:ext cx="3167913" cy="685800"/>
          </a:xfrm>
          <a:prstGeom prst="roundRect">
            <a:avLst>
              <a:gd name="adj" fmla="val 8000"/>
            </a:avLst>
          </a:prstGeom>
          <a:solidFill>
            <a:srgbClr val="F3F6FC"/>
          </a:solidFill>
          <a:ln/>
        </p:spPr>
        <p:txBody>
          <a:bodyPr/>
          <a:lstStyle/>
          <a:p>
            <a:endParaRPr lang="en-US" sz="2000" dirty="0"/>
          </a:p>
        </p:txBody>
      </p:sp>
      <p:sp>
        <p:nvSpPr>
          <p:cNvPr id="20" name="Text 18"/>
          <p:cNvSpPr/>
          <p:nvPr/>
        </p:nvSpPr>
        <p:spPr>
          <a:xfrm>
            <a:off x="4576841" y="4983480"/>
            <a:ext cx="3069224" cy="685800"/>
          </a:xfrm>
          <a:prstGeom prst="rect">
            <a:avLst/>
          </a:prstGeom>
          <a:noFill/>
          <a:ln/>
        </p:spPr>
        <p:txBody>
          <a:bodyPr wrap="square" rtlCol="0" anchor="ctr"/>
          <a:lstStyle/>
          <a:p>
            <a:pPr marL="0" indent="0" algn="ctr">
              <a:buNone/>
            </a:pPr>
            <a:r>
              <a:rPr lang="en-US" sz="1400" b="1" dirty="0">
                <a:solidFill>
                  <a:srgbClr val="1A2456"/>
                </a:solidFill>
                <a:latin typeface="Calibri" pitchFamily="34" charset="0"/>
                <a:ea typeface="Calibri" pitchFamily="34" charset="-122"/>
                <a:cs typeface="Calibri" pitchFamily="34" charset="-120"/>
              </a:rPr>
              <a:t>More approvals  ·  Stronger trust</a:t>
            </a:r>
            <a:endParaRPr lang="en-US" sz="1400" dirty="0"/>
          </a:p>
        </p:txBody>
      </p:sp>
      <p:sp>
        <p:nvSpPr>
          <p:cNvPr id="21" name="Shape 19"/>
          <p:cNvSpPr/>
          <p:nvPr/>
        </p:nvSpPr>
        <p:spPr>
          <a:xfrm>
            <a:off x="8202168" y="1554480"/>
            <a:ext cx="3483864" cy="4297680"/>
          </a:xfrm>
          <a:prstGeom prst="roundRect">
            <a:avLst>
              <a:gd name="adj" fmla="val 1575"/>
            </a:avLst>
          </a:prstGeom>
          <a:solidFill>
            <a:srgbClr val="FFFFFF"/>
          </a:solidFill>
          <a:ln w="12700">
            <a:solidFill>
              <a:srgbClr val="E1E8F5"/>
            </a:solidFill>
            <a:prstDash val="solid"/>
          </a:ln>
        </p:spPr>
        <p:txBody>
          <a:bodyPr/>
          <a:lstStyle/>
          <a:p>
            <a:endParaRPr lang="en-US" dirty="0"/>
          </a:p>
        </p:txBody>
      </p:sp>
      <p:sp>
        <p:nvSpPr>
          <p:cNvPr id="22" name="Shape 20"/>
          <p:cNvSpPr/>
          <p:nvPr/>
        </p:nvSpPr>
        <p:spPr>
          <a:xfrm>
            <a:off x="8202168" y="1554480"/>
            <a:ext cx="3483864" cy="1051560"/>
          </a:xfrm>
          <a:prstGeom prst="roundRect">
            <a:avLst>
              <a:gd name="adj" fmla="val 5217"/>
            </a:avLst>
          </a:prstGeom>
          <a:solidFill>
            <a:srgbClr val="0E9F6E"/>
          </a:solidFill>
          <a:ln/>
        </p:spPr>
        <p:txBody>
          <a:bodyPr/>
          <a:lstStyle/>
          <a:p>
            <a:endParaRPr lang="en-US" dirty="0"/>
          </a:p>
        </p:txBody>
      </p:sp>
      <p:sp>
        <p:nvSpPr>
          <p:cNvPr id="23" name="Shape 21"/>
          <p:cNvSpPr/>
          <p:nvPr/>
        </p:nvSpPr>
        <p:spPr>
          <a:xfrm>
            <a:off x="8202168" y="2057400"/>
            <a:ext cx="3483864" cy="548640"/>
          </a:xfrm>
          <a:prstGeom prst="rect">
            <a:avLst/>
          </a:prstGeom>
          <a:solidFill>
            <a:srgbClr val="0E9F6E"/>
          </a:solidFill>
          <a:ln/>
        </p:spPr>
        <p:txBody>
          <a:bodyPr/>
          <a:lstStyle/>
          <a:p>
            <a:endParaRPr lang="en-US" dirty="0"/>
          </a:p>
        </p:txBody>
      </p:sp>
      <p:sp>
        <p:nvSpPr>
          <p:cNvPr id="24" name="Text 22"/>
          <p:cNvSpPr/>
          <p:nvPr/>
        </p:nvSpPr>
        <p:spPr>
          <a:xfrm>
            <a:off x="8476488" y="1847088"/>
            <a:ext cx="2935224" cy="457200"/>
          </a:xfrm>
          <a:prstGeom prst="rect">
            <a:avLst/>
          </a:prstGeom>
          <a:noFill/>
          <a:ln/>
        </p:spPr>
        <p:txBody>
          <a:bodyPr wrap="square" rtlCol="0" anchor="ctr"/>
          <a:lstStyle/>
          <a:p>
            <a:pPr marL="0" indent="0">
              <a:buNone/>
            </a:pPr>
            <a:r>
              <a:rPr lang="en-US" sz="1500" b="1" kern="0" spc="300" dirty="0">
                <a:solidFill>
                  <a:srgbClr val="FFFFFF"/>
                </a:solidFill>
                <a:latin typeface="Calibri" pitchFamily="34" charset="0"/>
                <a:ea typeface="Calibri" pitchFamily="34" charset="-122"/>
                <a:cs typeface="Calibri" pitchFamily="34" charset="-120"/>
              </a:rPr>
              <a:t>JOB 3</a:t>
            </a:r>
            <a:endParaRPr lang="en-US" sz="1500" dirty="0"/>
          </a:p>
        </p:txBody>
      </p:sp>
      <p:sp>
        <p:nvSpPr>
          <p:cNvPr id="25" name="Text 23"/>
          <p:cNvSpPr/>
          <p:nvPr/>
        </p:nvSpPr>
        <p:spPr>
          <a:xfrm>
            <a:off x="8476488" y="2788920"/>
            <a:ext cx="3182112" cy="82296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Evidence-based Recommendations &amp; Owner's Priorities</a:t>
            </a:r>
            <a:endParaRPr lang="en-US" sz="1600" dirty="0"/>
          </a:p>
        </p:txBody>
      </p:sp>
      <p:sp>
        <p:nvSpPr>
          <p:cNvPr id="26" name="Text 24"/>
          <p:cNvSpPr/>
          <p:nvPr/>
        </p:nvSpPr>
        <p:spPr>
          <a:xfrm>
            <a:off x="8476488" y="3477832"/>
            <a:ext cx="2999232" cy="1463040"/>
          </a:xfrm>
          <a:prstGeom prst="rect">
            <a:avLst/>
          </a:prstGeom>
          <a:noFill/>
          <a:ln/>
        </p:spPr>
        <p:txBody>
          <a:bodyPr wrap="square" rtlCol="0" anchor="ctr"/>
          <a:lstStyle/>
          <a:p>
            <a:pPr marL="0" indent="0">
              <a:lnSpc>
                <a:spcPct val="105000"/>
              </a:lnSpc>
              <a:buNone/>
            </a:pPr>
            <a:r>
              <a:rPr lang="en-US" sz="1400" dirty="0">
                <a:solidFill>
                  <a:srgbClr val="5B6B8C"/>
                </a:solidFill>
                <a:latin typeface="Calibri" pitchFamily="34" charset="0"/>
                <a:ea typeface="Calibri" pitchFamily="34" charset="-122"/>
                <a:cs typeface="Calibri" pitchFamily="34" charset="-120"/>
              </a:rPr>
              <a:t>Surfaces context-aware recommendations and keeps your priorities front &amp; center - promos, programs, margin targets - on every ticket.</a:t>
            </a:r>
            <a:endParaRPr lang="en-US" sz="1400" dirty="0"/>
          </a:p>
        </p:txBody>
      </p:sp>
      <p:sp>
        <p:nvSpPr>
          <p:cNvPr id="27" name="Shape 25"/>
          <p:cNvSpPr/>
          <p:nvPr/>
        </p:nvSpPr>
        <p:spPr>
          <a:xfrm>
            <a:off x="8380744" y="4983480"/>
            <a:ext cx="3167913" cy="685800"/>
          </a:xfrm>
          <a:prstGeom prst="roundRect">
            <a:avLst>
              <a:gd name="adj" fmla="val 8000"/>
            </a:avLst>
          </a:prstGeom>
          <a:solidFill>
            <a:srgbClr val="F3F6FC"/>
          </a:solidFill>
          <a:ln/>
        </p:spPr>
        <p:txBody>
          <a:bodyPr/>
          <a:lstStyle/>
          <a:p>
            <a:endParaRPr lang="en-US" sz="2000" dirty="0"/>
          </a:p>
        </p:txBody>
      </p:sp>
      <p:sp>
        <p:nvSpPr>
          <p:cNvPr id="28" name="Text 26"/>
          <p:cNvSpPr/>
          <p:nvPr/>
        </p:nvSpPr>
        <p:spPr>
          <a:xfrm>
            <a:off x="8426465" y="4983480"/>
            <a:ext cx="3069224" cy="685800"/>
          </a:xfrm>
          <a:prstGeom prst="rect">
            <a:avLst/>
          </a:prstGeom>
          <a:noFill/>
          <a:ln/>
        </p:spPr>
        <p:txBody>
          <a:bodyPr wrap="square" rtlCol="0" anchor="ctr"/>
          <a:lstStyle/>
          <a:p>
            <a:pPr marL="0" indent="0" algn="ctr">
              <a:buNone/>
            </a:pPr>
            <a:r>
              <a:rPr lang="en-US" sz="1400" b="1" dirty="0">
                <a:solidFill>
                  <a:srgbClr val="1A2456"/>
                </a:solidFill>
                <a:latin typeface="Calibri" pitchFamily="34" charset="0"/>
                <a:ea typeface="Calibri" pitchFamily="34" charset="-122"/>
                <a:cs typeface="Calibri" pitchFamily="34" charset="-120"/>
              </a:rPr>
              <a:t>Margin lift  ·  Priorities on every RO</a:t>
            </a:r>
            <a:endParaRPr lang="en-US" sz="1400" dirty="0"/>
          </a:p>
        </p:txBody>
      </p:sp>
      <p:sp>
        <p:nvSpPr>
          <p:cNvPr id="29" name="Text 27"/>
          <p:cNvSpPr/>
          <p:nvPr/>
        </p:nvSpPr>
        <p:spPr>
          <a:xfrm>
            <a:off x="502920" y="6446520"/>
            <a:ext cx="7315200" cy="274320"/>
          </a:xfrm>
          <a:prstGeom prst="rect">
            <a:avLst/>
          </a:prstGeom>
          <a:noFill/>
          <a:ln/>
        </p:spPr>
        <p:txBody>
          <a:bodyPr wrap="square" rtlCol="0" anchor="ctr"/>
          <a:lstStyle/>
          <a:p>
            <a:pPr marL="0" indent="0" algn="l">
              <a:buNone/>
            </a:pPr>
            <a:r>
              <a:rPr lang="en-US" sz="850" b="1" kern="0" spc="100" dirty="0">
                <a:solidFill>
                  <a:srgbClr val="5B6B8C"/>
                </a:solidFill>
                <a:latin typeface="Calibri" pitchFamily="34" charset="0"/>
                <a:ea typeface="Calibri" pitchFamily="34" charset="-122"/>
                <a:cs typeface="Calibri" pitchFamily="34" charset="-120"/>
              </a:rPr>
              <a:t>PREDII CONFIDENTIAL</a:t>
            </a:r>
            <a:r>
              <a:rPr lang="en-US" sz="850" kern="0" spc="100" dirty="0">
                <a:solidFill>
                  <a:srgbClr val="5B6B8C"/>
                </a:solidFill>
                <a:latin typeface="Calibri" pitchFamily="34" charset="0"/>
                <a:ea typeface="Calibri" pitchFamily="34" charset="-122"/>
                <a:cs typeface="Calibri" pitchFamily="34" charset="-120"/>
              </a:rPr>
              <a:t>   |   WRENCHIQ INTRODUCTION</a:t>
            </a:r>
            <a:endParaRPr lang="en-US" sz="850" dirty="0"/>
          </a:p>
        </p:txBody>
      </p:sp>
      <p:sp>
        <p:nvSpPr>
          <p:cNvPr id="30" name="Text 28"/>
          <p:cNvSpPr/>
          <p:nvPr/>
        </p:nvSpPr>
        <p:spPr>
          <a:xfrm>
            <a:off x="4873752" y="6446520"/>
            <a:ext cx="6812280" cy="274320"/>
          </a:xfrm>
          <a:prstGeom prst="rect">
            <a:avLst/>
          </a:prstGeom>
          <a:noFill/>
          <a:ln/>
        </p:spPr>
        <p:txBody>
          <a:bodyPr wrap="square" rtlCol="0" anchor="ctr"/>
          <a:lstStyle/>
          <a:p>
            <a:pPr marL="0" indent="0" algn="r">
              <a:buNone/>
            </a:pPr>
            <a:r>
              <a:rPr lang="en-US" sz="850" dirty="0">
                <a:solidFill>
                  <a:srgbClr val="5B6B8C"/>
                </a:solidFill>
                <a:latin typeface="Calibri" pitchFamily="34" charset="0"/>
                <a:ea typeface="Calibri" pitchFamily="34" charset="-122"/>
                <a:cs typeface="Calibri" pitchFamily="34" charset="-120"/>
              </a:rPr>
              <a:t>Slide 3 · What It Does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207008"/>
          </a:xfrm>
          <a:prstGeom prst="rect">
            <a:avLst/>
          </a:prstGeom>
          <a:solidFill>
            <a:srgbClr val="1A24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94360" y="256032"/>
            <a:ext cx="73152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C8D8F8"/>
                </a:solidFill>
                <a:effectLst/>
                <a:uLnTx/>
                <a:uFillTx/>
                <a:latin typeface="Calibri" pitchFamily="34" charset="0"/>
                <a:ea typeface="Calibri" pitchFamily="34" charset="-122"/>
                <a:cs typeface="Calibri" pitchFamily="34" charset="-120"/>
              </a:rPr>
              <a:t>HOW IT WORKS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76072" y="512064"/>
            <a:ext cx="1115568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It Reads the RO and Speaks Up - No New Workflow</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03726" y="1417320"/>
            <a:ext cx="2148840" cy="1874520"/>
          </a:xfrm>
          <a:prstGeom prst="rect">
            <a:avLst/>
          </a:prstGeom>
          <a:solidFill>
            <a:srgbClr val="F3F6FC"/>
          </a:solidFill>
          <a:ln w="12700">
            <a:solidFill>
              <a:srgbClr val="DDE6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203826" y="1618488"/>
            <a:ext cx="548640" cy="548640"/>
          </a:xfrm>
          <a:prstGeom prst="ellipse">
            <a:avLst/>
          </a:prstGeom>
          <a:solidFill>
            <a:srgbClr val="FF683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1203826" y="1618488"/>
            <a:ext cx="54864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95166" y="2258568"/>
            <a:ext cx="19659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456"/>
                </a:solidFill>
                <a:effectLst/>
                <a:uLnTx/>
                <a:uFillTx/>
                <a:latin typeface="Calibri" pitchFamily="34" charset="0"/>
                <a:ea typeface="Calibri" pitchFamily="34" charset="-122"/>
                <a:cs typeface="Calibri" pitchFamily="34" charset="-120"/>
              </a:rPr>
              <a:t>Shop owner sets priorities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31742" y="2734056"/>
            <a:ext cx="1892808" cy="512064"/>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Intelligence layer monitoring each RO being executed.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2552566" y="1874520"/>
            <a:ext cx="192024" cy="41148"/>
          </a:xfrm>
          <a:prstGeom prst="rect">
            <a:avLst/>
          </a:prstGeom>
          <a:solidFill>
            <a:srgbClr val="0278B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2744590" y="1417320"/>
            <a:ext cx="2148840" cy="1874520"/>
          </a:xfrm>
          <a:prstGeom prst="rect">
            <a:avLst/>
          </a:prstGeom>
          <a:solidFill>
            <a:srgbClr val="F3F6FC"/>
          </a:solidFill>
          <a:ln w="12700">
            <a:solidFill>
              <a:srgbClr val="DDE6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3544690" y="1618488"/>
            <a:ext cx="548640" cy="548640"/>
          </a:xfrm>
          <a:prstGeom prst="ellipse">
            <a:avLst/>
          </a:prstGeom>
          <a:solidFill>
            <a:srgbClr val="1A24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3544690" y="1618488"/>
            <a:ext cx="54864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2836030" y="2258568"/>
            <a:ext cx="19659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456"/>
                </a:solidFill>
                <a:effectLst/>
                <a:uLnTx/>
                <a:uFillTx/>
                <a:latin typeface="Calibri" pitchFamily="34" charset="0"/>
                <a:ea typeface="Calibri" pitchFamily="34" charset="-122"/>
                <a:cs typeface="Calibri" pitchFamily="34" charset="-120"/>
              </a:rPr>
              <a:t>Advisor writes the RO</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2872606" y="2734056"/>
            <a:ext cx="1892808" cy="512064"/>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In the shop management system you already use.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4893430" y="1874520"/>
            <a:ext cx="192024" cy="41148"/>
          </a:xfrm>
          <a:prstGeom prst="rect">
            <a:avLst/>
          </a:prstGeom>
          <a:solidFill>
            <a:srgbClr val="0278B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5085454" y="1417320"/>
            <a:ext cx="2148840" cy="1874520"/>
          </a:xfrm>
          <a:prstGeom prst="rect">
            <a:avLst/>
          </a:prstGeom>
          <a:solidFill>
            <a:srgbClr val="F3F6FC"/>
          </a:solidFill>
          <a:ln w="12700">
            <a:solidFill>
              <a:srgbClr val="DDE6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5885554" y="1618488"/>
            <a:ext cx="548640" cy="548640"/>
          </a:xfrm>
          <a:prstGeom prst="ellipse">
            <a:avLst/>
          </a:prstGeom>
          <a:solidFill>
            <a:srgbClr val="0278B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5885554" y="1618488"/>
            <a:ext cx="54864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5176894" y="2258568"/>
            <a:ext cx="19659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456"/>
                </a:solidFill>
                <a:effectLst/>
                <a:uLnTx/>
                <a:uFillTx/>
                <a:latin typeface="Calibri" pitchFamily="34" charset="0"/>
                <a:ea typeface="Calibri" pitchFamily="34" charset="-122"/>
                <a:cs typeface="Calibri" pitchFamily="34" charset="-120"/>
              </a:rPr>
              <a:t>WrenchIQ reads the feed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213470" y="2734056"/>
            <a:ext cx="1892808" cy="512064"/>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A silent intelligence layer running alongside 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7234294" y="1874520"/>
            <a:ext cx="192024" cy="41148"/>
          </a:xfrm>
          <a:prstGeom prst="rect">
            <a:avLst/>
          </a:prstGeom>
          <a:solidFill>
            <a:srgbClr val="0278B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7426318" y="1417320"/>
            <a:ext cx="2148840" cy="1874520"/>
          </a:xfrm>
          <a:prstGeom prst="rect">
            <a:avLst/>
          </a:prstGeom>
          <a:solidFill>
            <a:srgbClr val="F3F6FC"/>
          </a:solidFill>
          <a:ln w="12700">
            <a:solidFill>
              <a:srgbClr val="DDE6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8226418" y="1618488"/>
            <a:ext cx="548640" cy="548640"/>
          </a:xfrm>
          <a:prstGeom prst="ellipse">
            <a:avLst/>
          </a:prstGeom>
          <a:solidFill>
            <a:srgbClr val="0E9F6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8226418" y="1618488"/>
            <a:ext cx="54864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7517758" y="2258568"/>
            <a:ext cx="19659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456"/>
                </a:solidFill>
                <a:effectLst/>
                <a:uLnTx/>
                <a:uFillTx/>
                <a:latin typeface="Calibri" pitchFamily="34" charset="0"/>
                <a:ea typeface="Calibri" pitchFamily="34" charset="-122"/>
                <a:cs typeface="Calibri" pitchFamily="34" charset="-120"/>
              </a:rPr>
              <a:t>It speaks up in the moment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7554334" y="2734056"/>
            <a:ext cx="1892808" cy="512064"/>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Recommendations, margin flags &amp; priority reminders.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9575158" y="1874520"/>
            <a:ext cx="192024" cy="41148"/>
          </a:xfrm>
          <a:prstGeom prst="rect">
            <a:avLst/>
          </a:prstGeom>
          <a:solidFill>
            <a:srgbClr val="0278B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p:cNvSpPr/>
          <p:nvPr/>
        </p:nvSpPr>
        <p:spPr>
          <a:xfrm>
            <a:off x="9767182" y="1417320"/>
            <a:ext cx="2148840" cy="1874520"/>
          </a:xfrm>
          <a:prstGeom prst="rect">
            <a:avLst/>
          </a:prstGeom>
          <a:solidFill>
            <a:srgbClr val="F3F6FC"/>
          </a:solidFill>
          <a:ln w="12700">
            <a:solidFill>
              <a:srgbClr val="DDE6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10567282" y="1618488"/>
            <a:ext cx="548640" cy="548640"/>
          </a:xfrm>
          <a:prstGeom prst="ellipse">
            <a:avLst/>
          </a:prstGeom>
          <a:solidFill>
            <a:srgbClr val="1A24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10567282" y="1618488"/>
            <a:ext cx="54864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9858622" y="2258568"/>
            <a:ext cx="19659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456"/>
                </a:solidFill>
                <a:effectLst/>
                <a:uLnTx/>
                <a:uFillTx/>
                <a:latin typeface="Calibri" pitchFamily="34" charset="0"/>
                <a:ea typeface="Calibri" pitchFamily="34" charset="-122"/>
                <a:cs typeface="Calibri" pitchFamily="34" charset="-120"/>
              </a:rPr>
              <a:t>Advisor acts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9895198" y="2734056"/>
            <a:ext cx="1892808" cy="512064"/>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The human always makes the final call.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9" name="Group 38">
            <a:extLst>
              <a:ext uri="{FF2B5EF4-FFF2-40B4-BE49-F238E27FC236}">
                <a16:creationId xmlns:a16="http://schemas.microsoft.com/office/drawing/2014/main" id="{D20748D4-55F5-C089-400E-B769C842DD35}"/>
              </a:ext>
            </a:extLst>
          </p:cNvPr>
          <p:cNvGrpSpPr/>
          <p:nvPr/>
        </p:nvGrpSpPr>
        <p:grpSpPr>
          <a:xfrm>
            <a:off x="524163" y="3469127"/>
            <a:ext cx="4997005" cy="2916936"/>
            <a:chOff x="206323" y="3429000"/>
            <a:chExt cx="4317626" cy="2413608"/>
          </a:xfrm>
        </p:grpSpPr>
        <p:pic>
          <p:nvPicPr>
            <p:cNvPr id="34" name="Image 0" descr="crop_dash.png"/>
            <p:cNvPicPr>
              <a:picLocks noChangeAspect="1"/>
            </p:cNvPicPr>
            <p:nvPr/>
          </p:nvPicPr>
          <p:blipFill rotWithShape="1">
            <a:blip r:embed="rId3"/>
            <a:srcRect b="4154"/>
            <a:stretch/>
          </p:blipFill>
          <p:spPr>
            <a:xfrm>
              <a:off x="206323" y="3451859"/>
              <a:ext cx="2900158" cy="2291424"/>
            </a:xfrm>
            <a:prstGeom prst="rect">
              <a:avLst/>
            </a:prstGeom>
          </p:spPr>
        </p:pic>
        <p:pic>
          <p:nvPicPr>
            <p:cNvPr id="35" name="Image 1" descr="crop_panel.png"/>
            <p:cNvPicPr>
              <a:picLocks noChangeAspect="1"/>
            </p:cNvPicPr>
            <p:nvPr/>
          </p:nvPicPr>
          <p:blipFill>
            <a:blip r:embed="rId4"/>
            <a:stretch>
              <a:fillRect/>
            </a:stretch>
          </p:blipFill>
          <p:spPr>
            <a:xfrm>
              <a:off x="3144744" y="3429000"/>
              <a:ext cx="1379205" cy="2413608"/>
            </a:xfrm>
            <a:prstGeom prst="rect">
              <a:avLst/>
            </a:prstGeom>
          </p:spPr>
        </p:pic>
      </p:grpSp>
      <p:sp>
        <p:nvSpPr>
          <p:cNvPr id="37" name="Text 32"/>
          <p:cNvSpPr/>
          <p:nvPr/>
        </p:nvSpPr>
        <p:spPr>
          <a:xfrm>
            <a:off x="594360" y="6492240"/>
            <a:ext cx="5943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200" normalizeH="0" baseline="0" noProof="0" dirty="0">
                <a:ln>
                  <a:noFill/>
                </a:ln>
                <a:solidFill>
                  <a:srgbClr val="FF6831"/>
                </a:solidFill>
                <a:effectLst/>
                <a:uLnTx/>
                <a:uFillTx/>
                <a:latin typeface="Calibri" pitchFamily="34" charset="0"/>
                <a:ea typeface="Calibri" pitchFamily="34" charset="-122"/>
                <a:cs typeface="Calibri" pitchFamily="34" charset="-120"/>
              </a:rPr>
              <a:t>PREDII CONFIDENTIAL</a:t>
            </a:r>
            <a:r>
              <a:rPr kumimoji="0" lang="en-US" sz="900" b="1" i="0" u="none" strike="noStrike" kern="0" cap="none" spc="200" normalizeH="0" baseline="0" noProof="0" dirty="0">
                <a:ln>
                  <a:noFill/>
                </a:ln>
                <a:solidFill>
                  <a:srgbClr val="5B6B8C"/>
                </a:solidFill>
                <a:effectLst/>
                <a:uLnTx/>
                <a:uFillTx/>
                <a:latin typeface="Calibri" pitchFamily="34" charset="0"/>
                <a:ea typeface="Calibri" pitchFamily="34" charset="-122"/>
                <a:cs typeface="Calibri" pitchFamily="34" charset="-120"/>
              </a:rPr>
              <a:t>    |    WRENCHIQ INTRODUCTION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3"/>
          <p:cNvSpPr/>
          <p:nvPr/>
        </p:nvSpPr>
        <p:spPr>
          <a:xfrm>
            <a:off x="8686800" y="6492240"/>
            <a:ext cx="292608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Slide 4 · How It Works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2" name="Picture 41">
            <a:extLst>
              <a:ext uri="{FF2B5EF4-FFF2-40B4-BE49-F238E27FC236}">
                <a16:creationId xmlns:a16="http://schemas.microsoft.com/office/drawing/2014/main" id="{F5727998-6252-4CF0-E470-BF97E4F87E21}"/>
              </a:ext>
            </a:extLst>
          </p:cNvPr>
          <p:cNvPicPr>
            <a:picLocks noChangeAspect="1"/>
          </p:cNvPicPr>
          <p:nvPr/>
        </p:nvPicPr>
        <p:blipFill>
          <a:blip r:embed="rId5"/>
          <a:stretch>
            <a:fillRect/>
          </a:stretch>
        </p:blipFill>
        <p:spPr>
          <a:xfrm>
            <a:off x="5968803" y="3471891"/>
            <a:ext cx="5901782" cy="29341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07008"/>
          </a:xfrm>
          <a:prstGeom prst="rect">
            <a:avLst/>
          </a:prstGeom>
          <a:solidFill>
            <a:srgbClr val="1A2456"/>
          </a:solidFill>
          <a:ln/>
        </p:spPr>
        <p:txBody>
          <a:bodyPr/>
          <a:lstStyle/>
          <a:p>
            <a:endParaRPr lang="en-US" dirty="0"/>
          </a:p>
        </p:txBody>
      </p:sp>
      <p:sp>
        <p:nvSpPr>
          <p:cNvPr id="3" name="Text 1"/>
          <p:cNvSpPr/>
          <p:nvPr/>
        </p:nvSpPr>
        <p:spPr>
          <a:xfrm>
            <a:off x="502920" y="256032"/>
            <a:ext cx="10972800" cy="274320"/>
          </a:xfrm>
          <a:prstGeom prst="rect">
            <a:avLst/>
          </a:prstGeom>
          <a:noFill/>
          <a:ln/>
        </p:spPr>
        <p:txBody>
          <a:bodyPr wrap="square" rtlCol="0" anchor="ctr"/>
          <a:lstStyle/>
          <a:p>
            <a:pPr marL="0" indent="0">
              <a:buNone/>
            </a:pPr>
            <a:r>
              <a:rPr lang="en-US" sz="1100" b="1" kern="0" spc="300" dirty="0">
                <a:solidFill>
                  <a:srgbClr val="C8D8F8"/>
                </a:solidFill>
                <a:latin typeface="Calibri" pitchFamily="34" charset="0"/>
                <a:ea typeface="Calibri" pitchFamily="34" charset="-122"/>
                <a:cs typeface="Calibri" pitchFamily="34" charset="-120"/>
              </a:rPr>
              <a:t>TODAY'S DISCUSSION</a:t>
            </a:r>
            <a:endParaRPr lang="en-US" sz="1100" dirty="0"/>
          </a:p>
        </p:txBody>
      </p:sp>
      <p:sp>
        <p:nvSpPr>
          <p:cNvPr id="4" name="Text 2"/>
          <p:cNvSpPr/>
          <p:nvPr/>
        </p:nvSpPr>
        <p:spPr>
          <a:xfrm>
            <a:off x="502920" y="530352"/>
            <a:ext cx="11155680" cy="56692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Your Feedback - and Where We Go Next</a:t>
            </a:r>
            <a:endParaRPr lang="en-US" sz="2800" dirty="0"/>
          </a:p>
        </p:txBody>
      </p:sp>
      <p:sp>
        <p:nvSpPr>
          <p:cNvPr id="5" name="Shape 3"/>
          <p:cNvSpPr/>
          <p:nvPr/>
        </p:nvSpPr>
        <p:spPr>
          <a:xfrm>
            <a:off x="502920" y="1600200"/>
            <a:ext cx="5394960" cy="3977640"/>
          </a:xfrm>
          <a:prstGeom prst="roundRect">
            <a:avLst>
              <a:gd name="adj" fmla="val 1609"/>
            </a:avLst>
          </a:prstGeom>
          <a:solidFill>
            <a:srgbClr val="F3F6FC"/>
          </a:solidFill>
          <a:ln w="12700">
            <a:solidFill>
              <a:srgbClr val="E1E8F5"/>
            </a:solidFill>
            <a:prstDash val="solid"/>
          </a:ln>
        </p:spPr>
        <p:txBody>
          <a:bodyPr/>
          <a:lstStyle/>
          <a:p>
            <a:endParaRPr lang="en-US" dirty="0"/>
          </a:p>
        </p:txBody>
      </p:sp>
      <p:sp>
        <p:nvSpPr>
          <p:cNvPr id="6" name="Shape 4"/>
          <p:cNvSpPr/>
          <p:nvPr/>
        </p:nvSpPr>
        <p:spPr>
          <a:xfrm>
            <a:off x="822960" y="1920240"/>
            <a:ext cx="256032" cy="256032"/>
          </a:xfrm>
          <a:prstGeom prst="ellipse">
            <a:avLst/>
          </a:prstGeom>
          <a:solidFill>
            <a:srgbClr val="0278B5"/>
          </a:solidFill>
          <a:ln/>
        </p:spPr>
        <p:txBody>
          <a:bodyPr/>
          <a:lstStyle/>
          <a:p>
            <a:endParaRPr lang="en-US" dirty="0"/>
          </a:p>
        </p:txBody>
      </p:sp>
      <p:sp>
        <p:nvSpPr>
          <p:cNvPr id="7" name="Text 5"/>
          <p:cNvSpPr/>
          <p:nvPr/>
        </p:nvSpPr>
        <p:spPr>
          <a:xfrm>
            <a:off x="1234440" y="1874520"/>
            <a:ext cx="4480560" cy="365760"/>
          </a:xfrm>
          <a:prstGeom prst="rect">
            <a:avLst/>
          </a:prstGeom>
          <a:noFill/>
          <a:ln/>
        </p:spPr>
        <p:txBody>
          <a:bodyPr wrap="square" rtlCol="0" anchor="ctr"/>
          <a:lstStyle/>
          <a:p>
            <a:pPr marL="0" indent="0">
              <a:buNone/>
            </a:pPr>
            <a:r>
              <a:rPr lang="en-US" sz="1600" b="1" kern="0" spc="100" dirty="0">
                <a:solidFill>
                  <a:srgbClr val="1A2456"/>
                </a:solidFill>
                <a:latin typeface="Calibri" pitchFamily="34" charset="0"/>
                <a:ea typeface="Calibri" pitchFamily="34" charset="-122"/>
                <a:cs typeface="Calibri" pitchFamily="34" charset="-120"/>
              </a:rPr>
              <a:t>WHAT WE'D LIKE FROM YOU</a:t>
            </a:r>
            <a:endParaRPr lang="en-US" sz="1600" dirty="0"/>
          </a:p>
        </p:txBody>
      </p:sp>
      <p:sp>
        <p:nvSpPr>
          <p:cNvPr id="8" name="Text 6"/>
          <p:cNvSpPr/>
          <p:nvPr/>
        </p:nvSpPr>
        <p:spPr>
          <a:xfrm>
            <a:off x="868680" y="2468880"/>
            <a:ext cx="4663440" cy="36576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Do we hit the right use cases?</a:t>
            </a:r>
            <a:endParaRPr lang="en-US" sz="1600" dirty="0"/>
          </a:p>
        </p:txBody>
      </p:sp>
      <p:sp>
        <p:nvSpPr>
          <p:cNvPr id="9" name="Text 7"/>
          <p:cNvSpPr/>
          <p:nvPr/>
        </p:nvSpPr>
        <p:spPr>
          <a:xfrm>
            <a:off x="868680" y="2816352"/>
            <a:ext cx="4663440" cy="548640"/>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Does this fit how your shop actually runs day to day?</a:t>
            </a:r>
            <a:endParaRPr lang="en-US" sz="1400" dirty="0"/>
          </a:p>
        </p:txBody>
      </p:sp>
      <p:sp>
        <p:nvSpPr>
          <p:cNvPr id="10" name="Text 8"/>
          <p:cNvSpPr/>
          <p:nvPr/>
        </p:nvSpPr>
        <p:spPr>
          <a:xfrm>
            <a:off x="868680" y="3429000"/>
            <a:ext cx="4663440" cy="36576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How should it be delivered?</a:t>
            </a:r>
            <a:endParaRPr lang="en-US" sz="1600" dirty="0"/>
          </a:p>
        </p:txBody>
      </p:sp>
      <p:sp>
        <p:nvSpPr>
          <p:cNvPr id="11" name="Text 9"/>
          <p:cNvSpPr/>
          <p:nvPr/>
        </p:nvSpPr>
        <p:spPr>
          <a:xfrm>
            <a:off x="868680" y="3776472"/>
            <a:ext cx="4663440" cy="548640"/>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What would it take for this to work naturally on your floor?</a:t>
            </a:r>
            <a:endParaRPr lang="en-US" sz="1400" dirty="0"/>
          </a:p>
        </p:txBody>
      </p:sp>
      <p:sp>
        <p:nvSpPr>
          <p:cNvPr id="12" name="Text 10"/>
          <p:cNvSpPr/>
          <p:nvPr/>
        </p:nvSpPr>
        <p:spPr>
          <a:xfrm>
            <a:off x="868680" y="4389120"/>
            <a:ext cx="4663440" cy="36576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Benefit, cost &amp; commercials</a:t>
            </a:r>
            <a:endParaRPr lang="en-US" sz="1600" dirty="0"/>
          </a:p>
        </p:txBody>
      </p:sp>
      <p:sp>
        <p:nvSpPr>
          <p:cNvPr id="13" name="Text 11"/>
          <p:cNvSpPr/>
          <p:nvPr/>
        </p:nvSpPr>
        <p:spPr>
          <a:xfrm>
            <a:off x="868680" y="4736592"/>
            <a:ext cx="4663440" cy="548640"/>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What's the value by use case — and what would fair pricing look like?</a:t>
            </a:r>
            <a:endParaRPr lang="en-US" sz="1400" dirty="0"/>
          </a:p>
        </p:txBody>
      </p:sp>
      <p:sp>
        <p:nvSpPr>
          <p:cNvPr id="14" name="Shape 12"/>
          <p:cNvSpPr/>
          <p:nvPr/>
        </p:nvSpPr>
        <p:spPr>
          <a:xfrm>
            <a:off x="6291072" y="1600200"/>
            <a:ext cx="5394960" cy="3977640"/>
          </a:xfrm>
          <a:prstGeom prst="roundRect">
            <a:avLst>
              <a:gd name="adj" fmla="val 1609"/>
            </a:avLst>
          </a:prstGeom>
          <a:solidFill>
            <a:srgbClr val="1A2340"/>
          </a:solidFill>
          <a:ln/>
        </p:spPr>
        <p:txBody>
          <a:bodyPr/>
          <a:lstStyle/>
          <a:p>
            <a:endParaRPr lang="en-US" dirty="0"/>
          </a:p>
        </p:txBody>
      </p:sp>
      <p:sp>
        <p:nvSpPr>
          <p:cNvPr id="15" name="Shape 13"/>
          <p:cNvSpPr/>
          <p:nvPr/>
        </p:nvSpPr>
        <p:spPr>
          <a:xfrm>
            <a:off x="6611112" y="1920240"/>
            <a:ext cx="256032" cy="256032"/>
          </a:xfrm>
          <a:prstGeom prst="ellipse">
            <a:avLst/>
          </a:prstGeom>
          <a:solidFill>
            <a:srgbClr val="0E9F6E"/>
          </a:solidFill>
          <a:ln/>
        </p:spPr>
        <p:txBody>
          <a:bodyPr/>
          <a:lstStyle/>
          <a:p>
            <a:endParaRPr lang="en-US" dirty="0"/>
          </a:p>
        </p:txBody>
      </p:sp>
      <p:sp>
        <p:nvSpPr>
          <p:cNvPr id="16" name="Text 14"/>
          <p:cNvSpPr/>
          <p:nvPr/>
        </p:nvSpPr>
        <p:spPr>
          <a:xfrm>
            <a:off x="7022592" y="1874520"/>
            <a:ext cx="4480560" cy="365760"/>
          </a:xfrm>
          <a:prstGeom prst="rect">
            <a:avLst/>
          </a:prstGeom>
          <a:noFill/>
          <a:ln/>
        </p:spPr>
        <p:txBody>
          <a:bodyPr wrap="square" rtlCol="0" anchor="ctr"/>
          <a:lstStyle/>
          <a:p>
            <a:pPr marL="0" indent="0">
              <a:buNone/>
            </a:pPr>
            <a:r>
              <a:rPr lang="en-US" sz="1600" b="1" kern="0" spc="100" dirty="0">
                <a:solidFill>
                  <a:srgbClr val="FFFFFF"/>
                </a:solidFill>
                <a:latin typeface="Calibri" pitchFamily="34" charset="0"/>
                <a:ea typeface="Calibri" pitchFamily="34" charset="-122"/>
                <a:cs typeface="Calibri" pitchFamily="34" charset="-120"/>
              </a:rPr>
              <a:t>POSSIBLE NEXT STEPS</a:t>
            </a:r>
            <a:endParaRPr lang="en-US" sz="1600" dirty="0"/>
          </a:p>
        </p:txBody>
      </p:sp>
      <p:sp>
        <p:nvSpPr>
          <p:cNvPr id="17" name="Text 15"/>
          <p:cNvSpPr/>
          <p:nvPr/>
        </p:nvSpPr>
        <p:spPr>
          <a:xfrm>
            <a:off x="6656832" y="2468880"/>
            <a:ext cx="466344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 low-lift pilot on your own ROs</a:t>
            </a:r>
            <a:endParaRPr lang="en-US" sz="1600" dirty="0"/>
          </a:p>
        </p:txBody>
      </p:sp>
      <p:sp>
        <p:nvSpPr>
          <p:cNvPr id="18" name="Text 16"/>
          <p:cNvSpPr/>
          <p:nvPr/>
        </p:nvSpPr>
        <p:spPr>
          <a:xfrm>
            <a:off x="6656832" y="2816352"/>
            <a:ext cx="4663440" cy="548640"/>
          </a:xfrm>
          <a:prstGeom prst="rect">
            <a:avLst/>
          </a:prstGeom>
          <a:noFill/>
          <a:ln/>
        </p:spPr>
        <p:txBody>
          <a:bodyPr wrap="square" rtlCol="0" anchor="ctr"/>
          <a:lstStyle/>
          <a:p>
            <a:pPr marL="0" indent="0">
              <a:buNone/>
            </a:pPr>
            <a:r>
              <a:rPr lang="en-US" sz="1400" dirty="0">
                <a:solidFill>
                  <a:srgbClr val="C8D8F8"/>
                </a:solidFill>
                <a:latin typeface="Calibri" pitchFamily="34" charset="0"/>
                <a:ea typeface="Calibri" pitchFamily="34" charset="-122"/>
                <a:cs typeface="Calibri" pitchFamily="34" charset="-120"/>
              </a:rPr>
              <a:t>Run WrenchIQ alongside a real workflow, measured against the numbers you already track.</a:t>
            </a:r>
            <a:endParaRPr lang="en-US" sz="1400" dirty="0"/>
          </a:p>
        </p:txBody>
      </p:sp>
      <p:sp>
        <p:nvSpPr>
          <p:cNvPr id="19" name="Text 17"/>
          <p:cNvSpPr/>
          <p:nvPr/>
        </p:nvSpPr>
        <p:spPr>
          <a:xfrm>
            <a:off x="6656832" y="3539109"/>
            <a:ext cx="466344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Interested in signing up for a POC?</a:t>
            </a:r>
            <a:endParaRPr lang="en-US" sz="1600" dirty="0"/>
          </a:p>
        </p:txBody>
      </p:sp>
      <p:sp>
        <p:nvSpPr>
          <p:cNvPr id="20" name="Text 18"/>
          <p:cNvSpPr/>
          <p:nvPr/>
        </p:nvSpPr>
        <p:spPr>
          <a:xfrm>
            <a:off x="6656832" y="3776472"/>
            <a:ext cx="4663440" cy="548640"/>
          </a:xfrm>
          <a:prstGeom prst="rect">
            <a:avLst/>
          </a:prstGeom>
          <a:noFill/>
          <a:ln/>
        </p:spPr>
        <p:txBody>
          <a:bodyPr wrap="square" rtlCol="0" anchor="ctr"/>
          <a:lstStyle/>
          <a:p>
            <a:pPr marL="0" indent="0">
              <a:buNone/>
            </a:pPr>
            <a:r>
              <a:rPr lang="en-US" sz="1400" dirty="0">
                <a:solidFill>
                  <a:srgbClr val="C8D8F8"/>
                </a:solidFill>
                <a:latin typeface="Calibri" pitchFamily="34" charset="0"/>
                <a:ea typeface="Calibri" pitchFamily="34" charset="-122"/>
                <a:cs typeface="Calibri" pitchFamily="34" charset="-120"/>
              </a:rPr>
              <a:t>The value proves itself on your floor before anything changes.</a:t>
            </a:r>
            <a:endParaRPr lang="en-US" sz="1400" dirty="0"/>
          </a:p>
        </p:txBody>
      </p:sp>
      <p:sp>
        <p:nvSpPr>
          <p:cNvPr id="21" name="Text 19"/>
          <p:cNvSpPr/>
          <p:nvPr/>
        </p:nvSpPr>
        <p:spPr>
          <a:xfrm>
            <a:off x="6656832" y="4389120"/>
            <a:ext cx="466344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What else should we build?</a:t>
            </a:r>
            <a:endParaRPr lang="en-US" sz="1600" dirty="0"/>
          </a:p>
        </p:txBody>
      </p:sp>
      <p:sp>
        <p:nvSpPr>
          <p:cNvPr id="22" name="Text 20"/>
          <p:cNvSpPr/>
          <p:nvPr/>
        </p:nvSpPr>
        <p:spPr>
          <a:xfrm>
            <a:off x="6656832" y="4736592"/>
            <a:ext cx="4663440" cy="548640"/>
          </a:xfrm>
          <a:prstGeom prst="rect">
            <a:avLst/>
          </a:prstGeom>
          <a:noFill/>
          <a:ln/>
        </p:spPr>
        <p:txBody>
          <a:bodyPr wrap="square" rtlCol="0" anchor="ctr"/>
          <a:lstStyle/>
          <a:p>
            <a:pPr marL="0" indent="0">
              <a:buNone/>
            </a:pPr>
            <a:r>
              <a:rPr lang="en-US" sz="1400" dirty="0">
                <a:solidFill>
                  <a:srgbClr val="C8D8F8"/>
                </a:solidFill>
                <a:latin typeface="Calibri" pitchFamily="34" charset="0"/>
                <a:ea typeface="Calibri" pitchFamily="34" charset="-122"/>
                <a:cs typeface="Calibri" pitchFamily="34" charset="-120"/>
              </a:rPr>
              <a:t>Your ideas and recommendations shape where WrenchIQ goes next.</a:t>
            </a:r>
            <a:endParaRPr lang="en-US" sz="1400" dirty="0"/>
          </a:p>
        </p:txBody>
      </p:sp>
      <p:sp>
        <p:nvSpPr>
          <p:cNvPr id="23" name="Text 21"/>
          <p:cNvSpPr/>
          <p:nvPr/>
        </p:nvSpPr>
        <p:spPr>
          <a:xfrm>
            <a:off x="502920" y="6446520"/>
            <a:ext cx="7315200" cy="274320"/>
          </a:xfrm>
          <a:prstGeom prst="rect">
            <a:avLst/>
          </a:prstGeom>
          <a:noFill/>
          <a:ln/>
        </p:spPr>
        <p:txBody>
          <a:bodyPr wrap="square" rtlCol="0" anchor="ctr"/>
          <a:lstStyle/>
          <a:p>
            <a:pPr marL="0" indent="0" algn="l">
              <a:buNone/>
            </a:pPr>
            <a:r>
              <a:rPr lang="en-US" sz="850" b="1" kern="0" spc="100" dirty="0">
                <a:solidFill>
                  <a:srgbClr val="5B6B8C"/>
                </a:solidFill>
                <a:latin typeface="Calibri" pitchFamily="34" charset="0"/>
                <a:ea typeface="Calibri" pitchFamily="34" charset="-122"/>
                <a:cs typeface="Calibri" pitchFamily="34" charset="-120"/>
              </a:rPr>
              <a:t>PREDII CONFIDENTIAL</a:t>
            </a:r>
            <a:r>
              <a:rPr lang="en-US" sz="850" kern="0" spc="100" dirty="0">
                <a:solidFill>
                  <a:srgbClr val="5B6B8C"/>
                </a:solidFill>
                <a:latin typeface="Calibri" pitchFamily="34" charset="0"/>
                <a:ea typeface="Calibri" pitchFamily="34" charset="-122"/>
                <a:cs typeface="Calibri" pitchFamily="34" charset="-120"/>
              </a:rPr>
              <a:t>   |   WRENCHIQ INTRODUCTION</a:t>
            </a:r>
            <a:endParaRPr lang="en-US" sz="850" dirty="0"/>
          </a:p>
        </p:txBody>
      </p:sp>
      <p:sp>
        <p:nvSpPr>
          <p:cNvPr id="24" name="Text 22"/>
          <p:cNvSpPr/>
          <p:nvPr/>
        </p:nvSpPr>
        <p:spPr>
          <a:xfrm>
            <a:off x="4873752" y="6446520"/>
            <a:ext cx="6812280" cy="274320"/>
          </a:xfrm>
          <a:prstGeom prst="rect">
            <a:avLst/>
          </a:prstGeom>
          <a:noFill/>
          <a:ln/>
        </p:spPr>
        <p:txBody>
          <a:bodyPr wrap="square" rtlCol="0" anchor="ctr"/>
          <a:lstStyle/>
          <a:p>
            <a:pPr marL="0" indent="0" algn="r">
              <a:buNone/>
            </a:pPr>
            <a:r>
              <a:rPr lang="en-US" sz="850" dirty="0">
                <a:solidFill>
                  <a:srgbClr val="5B6B8C"/>
                </a:solidFill>
                <a:latin typeface="Calibri" pitchFamily="34" charset="0"/>
                <a:ea typeface="Calibri" pitchFamily="34" charset="-122"/>
                <a:cs typeface="Calibri" pitchFamily="34" charset="-120"/>
              </a:rPr>
              <a:t>Slide 5 · Today's Discussion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456"/>
        </a:solidFill>
        <a:effectLst/>
      </p:bgPr>
    </p:bg>
    <p:spTree>
      <p:nvGrpSpPr>
        <p:cNvPr id="1" name=""/>
        <p:cNvGrpSpPr/>
        <p:nvPr/>
      </p:nvGrpSpPr>
      <p:grpSpPr>
        <a:xfrm>
          <a:off x="0" y="0"/>
          <a:ext cx="0" cy="0"/>
          <a:chOff x="0" y="0"/>
          <a:chExt cx="0" cy="0"/>
        </a:xfrm>
      </p:grpSpPr>
      <p:sp>
        <p:nvSpPr>
          <p:cNvPr id="2" name="Text 0"/>
          <p:cNvSpPr/>
          <p:nvPr/>
        </p:nvSpPr>
        <p:spPr>
          <a:xfrm>
            <a:off x="502920" y="411480"/>
            <a:ext cx="3657600" cy="365760"/>
          </a:xfrm>
          <a:prstGeom prst="rect">
            <a:avLst/>
          </a:prstGeom>
          <a:noFill/>
          <a:ln/>
        </p:spPr>
        <p:txBody>
          <a:bodyPr wrap="square" rtlCol="0" anchor="ctr"/>
          <a:lstStyle/>
          <a:p>
            <a:pPr marL="0" indent="0">
              <a:buNone/>
            </a:pPr>
            <a:r>
              <a:rPr lang="en-US" sz="1400" b="1" kern="0" spc="500" dirty="0">
                <a:solidFill>
                  <a:srgbClr val="FFFFFF"/>
                </a:solidFill>
                <a:latin typeface="Calibri" pitchFamily="34" charset="0"/>
                <a:ea typeface="Calibri" pitchFamily="34" charset="-122"/>
                <a:cs typeface="Calibri" pitchFamily="34" charset="-120"/>
              </a:rPr>
              <a:t>PREDII</a:t>
            </a:r>
            <a:endParaRPr lang="en-US" sz="1400" dirty="0"/>
          </a:p>
        </p:txBody>
      </p:sp>
      <p:sp>
        <p:nvSpPr>
          <p:cNvPr id="3" name="Text 1"/>
          <p:cNvSpPr/>
          <p:nvPr/>
        </p:nvSpPr>
        <p:spPr>
          <a:xfrm>
            <a:off x="502920" y="2651760"/>
            <a:ext cx="10972800" cy="914400"/>
          </a:xfrm>
          <a:prstGeom prst="rect">
            <a:avLst/>
          </a:prstGeom>
          <a:noFill/>
          <a:ln/>
        </p:spPr>
        <p:txBody>
          <a:bodyPr wrap="square"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4" name="Text 2"/>
          <p:cNvSpPr/>
          <p:nvPr/>
        </p:nvSpPr>
        <p:spPr>
          <a:xfrm>
            <a:off x="502920" y="3657600"/>
            <a:ext cx="10058400" cy="548640"/>
          </a:xfrm>
          <a:prstGeom prst="rect">
            <a:avLst/>
          </a:prstGeom>
          <a:noFill/>
          <a:ln/>
        </p:spPr>
        <p:txBody>
          <a:bodyPr wrap="square" rtlCol="0" anchor="ctr"/>
          <a:lstStyle/>
          <a:p>
            <a:pPr marL="0" indent="0">
              <a:buNone/>
            </a:pPr>
            <a:r>
              <a:rPr lang="en-US" sz="2000" i="1" dirty="0">
                <a:solidFill>
                  <a:srgbClr val="C8D8F8"/>
                </a:solidFill>
                <a:latin typeface="Calibri" pitchFamily="34" charset="0"/>
                <a:ea typeface="Calibri" pitchFamily="34" charset="-122"/>
                <a:cs typeface="Calibri" pitchFamily="34" charset="-120"/>
              </a:rPr>
              <a:t>Let's put WrenchIQ to work on your floor.</a:t>
            </a:r>
            <a:endParaRPr lang="en-US" sz="2000" dirty="0"/>
          </a:p>
        </p:txBody>
      </p:sp>
      <p:sp>
        <p:nvSpPr>
          <p:cNvPr id="5" name="Text 3"/>
          <p:cNvSpPr/>
          <p:nvPr/>
        </p:nvSpPr>
        <p:spPr>
          <a:xfrm>
            <a:off x="502920" y="6446520"/>
            <a:ext cx="7315200" cy="274320"/>
          </a:xfrm>
          <a:prstGeom prst="rect">
            <a:avLst/>
          </a:prstGeom>
          <a:noFill/>
          <a:ln/>
        </p:spPr>
        <p:txBody>
          <a:bodyPr wrap="square" rtlCol="0" anchor="ctr"/>
          <a:lstStyle/>
          <a:p>
            <a:pPr marL="0" indent="0" algn="l">
              <a:buNone/>
            </a:pPr>
            <a:r>
              <a:rPr lang="en-US" sz="850" b="1" kern="0" spc="100" dirty="0">
                <a:solidFill>
                  <a:schemeClr val="bg1">
                    <a:lumMod val="85000"/>
                  </a:schemeClr>
                </a:solidFill>
                <a:latin typeface="Calibri" pitchFamily="34" charset="0"/>
                <a:ea typeface="Calibri" pitchFamily="34" charset="-122"/>
                <a:cs typeface="Calibri" pitchFamily="34" charset="-120"/>
              </a:rPr>
              <a:t>PREDII CONFIDENTIAL</a:t>
            </a:r>
            <a:r>
              <a:rPr lang="en-US" sz="850" kern="0" spc="100" dirty="0">
                <a:solidFill>
                  <a:schemeClr val="bg1">
                    <a:lumMod val="85000"/>
                  </a:schemeClr>
                </a:solidFill>
                <a:latin typeface="Calibri" pitchFamily="34" charset="0"/>
                <a:ea typeface="Calibri" pitchFamily="34" charset="-122"/>
                <a:cs typeface="Calibri" pitchFamily="34" charset="-120"/>
              </a:rPr>
              <a:t>   |   WRENCHIQ INTRODUCTION</a:t>
            </a:r>
            <a:endParaRPr lang="en-US" sz="850" dirty="0">
              <a:solidFill>
                <a:schemeClr val="bg1">
                  <a:lumMod val="85000"/>
                </a:schemeClr>
              </a:solidFill>
            </a:endParaRPr>
          </a:p>
        </p:txBody>
      </p:sp>
      <p:sp>
        <p:nvSpPr>
          <p:cNvPr id="6" name="Text 4"/>
          <p:cNvSpPr/>
          <p:nvPr/>
        </p:nvSpPr>
        <p:spPr>
          <a:xfrm>
            <a:off x="4873752" y="6446520"/>
            <a:ext cx="6812280" cy="274320"/>
          </a:xfrm>
          <a:prstGeom prst="rect">
            <a:avLst/>
          </a:prstGeom>
          <a:noFill/>
          <a:ln/>
        </p:spPr>
        <p:txBody>
          <a:bodyPr wrap="square" rtlCol="0" anchor="ctr"/>
          <a:lstStyle/>
          <a:p>
            <a:pPr marL="0" indent="0" algn="r">
              <a:buNone/>
            </a:pPr>
            <a:r>
              <a:rPr lang="en-US" sz="850" dirty="0">
                <a:solidFill>
                  <a:schemeClr val="bg1">
                    <a:lumMod val="85000"/>
                  </a:schemeClr>
                </a:solidFill>
                <a:latin typeface="Calibri" pitchFamily="34" charset="0"/>
                <a:ea typeface="Calibri" pitchFamily="34" charset="-122"/>
                <a:cs typeface="Calibri" pitchFamily="34" charset="-120"/>
              </a:rPr>
              <a:t>Slide 6 · Close</a:t>
            </a:r>
            <a:endParaRPr lang="en-US" sz="850" dirty="0">
              <a:solidFill>
                <a:schemeClr val="bg1">
                  <a:lumMod val="85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07008"/>
          </a:xfrm>
          <a:prstGeom prst="rect">
            <a:avLst/>
          </a:prstGeom>
          <a:solidFill>
            <a:srgbClr val="1A2456"/>
          </a:solidFill>
          <a:ln/>
        </p:spPr>
        <p:txBody>
          <a:bodyPr/>
          <a:lstStyle/>
          <a:p>
            <a:endParaRPr lang="en-US" dirty="0"/>
          </a:p>
        </p:txBody>
      </p:sp>
      <p:sp>
        <p:nvSpPr>
          <p:cNvPr id="3" name="Text 1"/>
          <p:cNvSpPr/>
          <p:nvPr/>
        </p:nvSpPr>
        <p:spPr>
          <a:xfrm>
            <a:off x="502920" y="256032"/>
            <a:ext cx="10972800" cy="274320"/>
          </a:xfrm>
          <a:prstGeom prst="rect">
            <a:avLst/>
          </a:prstGeom>
          <a:noFill/>
          <a:ln/>
        </p:spPr>
        <p:txBody>
          <a:bodyPr wrap="square" rtlCol="0" anchor="ctr"/>
          <a:lstStyle/>
          <a:p>
            <a:pPr marL="0" indent="0">
              <a:buNone/>
            </a:pPr>
            <a:r>
              <a:rPr lang="en-US" sz="1100" b="1" kern="0" spc="300" dirty="0">
                <a:solidFill>
                  <a:srgbClr val="C8D8F8"/>
                </a:solidFill>
                <a:latin typeface="Calibri" pitchFamily="34" charset="0"/>
                <a:ea typeface="Calibri" pitchFamily="34" charset="-122"/>
                <a:cs typeface="Calibri" pitchFamily="34" charset="-120"/>
              </a:rPr>
              <a:t>HOW IT WORKS</a:t>
            </a:r>
            <a:endParaRPr lang="en-US" sz="1100" dirty="0"/>
          </a:p>
        </p:txBody>
      </p:sp>
      <p:sp>
        <p:nvSpPr>
          <p:cNvPr id="4" name="Text 2"/>
          <p:cNvSpPr/>
          <p:nvPr/>
        </p:nvSpPr>
        <p:spPr>
          <a:xfrm>
            <a:off x="502920" y="530352"/>
            <a:ext cx="11155680" cy="56692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It Reads the RO and Speaks Up - No New Workflow</a:t>
            </a:r>
            <a:endParaRPr lang="en-US" sz="2800" dirty="0"/>
          </a:p>
        </p:txBody>
      </p:sp>
      <p:sp>
        <p:nvSpPr>
          <p:cNvPr id="5" name="Shape 3"/>
          <p:cNvSpPr/>
          <p:nvPr/>
        </p:nvSpPr>
        <p:spPr>
          <a:xfrm>
            <a:off x="584060" y="1311762"/>
            <a:ext cx="2725223" cy="1865182"/>
          </a:xfrm>
          <a:prstGeom prst="roundRect">
            <a:avLst>
              <a:gd name="adj" fmla="val 3243"/>
            </a:avLst>
          </a:prstGeom>
          <a:solidFill>
            <a:srgbClr val="F3F6FC"/>
          </a:solidFill>
          <a:ln w="12700">
            <a:solidFill>
              <a:srgbClr val="E1E8F5"/>
            </a:solidFill>
            <a:prstDash val="solid"/>
          </a:ln>
        </p:spPr>
        <p:txBody>
          <a:bodyPr/>
          <a:lstStyle/>
          <a:p>
            <a:endParaRPr lang="en-US" dirty="0"/>
          </a:p>
        </p:txBody>
      </p:sp>
      <p:sp>
        <p:nvSpPr>
          <p:cNvPr id="6" name="Shape 4"/>
          <p:cNvSpPr/>
          <p:nvPr/>
        </p:nvSpPr>
        <p:spPr>
          <a:xfrm>
            <a:off x="1779036" y="1532113"/>
            <a:ext cx="576985" cy="564596"/>
          </a:xfrm>
          <a:prstGeom prst="ellipse">
            <a:avLst/>
          </a:prstGeom>
          <a:solidFill>
            <a:srgbClr val="1A2456"/>
          </a:solidFill>
          <a:ln/>
        </p:spPr>
        <p:txBody>
          <a:bodyPr/>
          <a:lstStyle/>
          <a:p>
            <a:endParaRPr lang="en-US" dirty="0"/>
          </a:p>
        </p:txBody>
      </p:sp>
      <p:sp>
        <p:nvSpPr>
          <p:cNvPr id="7" name="Text 5"/>
          <p:cNvSpPr/>
          <p:nvPr/>
        </p:nvSpPr>
        <p:spPr>
          <a:xfrm>
            <a:off x="1779036" y="1532113"/>
            <a:ext cx="576985" cy="564596"/>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698686" y="2132102"/>
            <a:ext cx="2519157" cy="504103"/>
          </a:xfrm>
          <a:prstGeom prst="rect">
            <a:avLst/>
          </a:prstGeom>
          <a:noFill/>
          <a:ln/>
        </p:spPr>
        <p:txBody>
          <a:bodyPr wrap="square" rtlCol="0" anchor="ctr"/>
          <a:lstStyle/>
          <a:p>
            <a:pPr marL="0" indent="0" algn="ctr">
              <a:buNone/>
            </a:pPr>
            <a:r>
              <a:rPr lang="en-US" sz="1600" b="1" dirty="0">
                <a:solidFill>
                  <a:srgbClr val="1A2456"/>
                </a:solidFill>
                <a:latin typeface="Calibri" pitchFamily="34" charset="0"/>
                <a:ea typeface="Calibri" pitchFamily="34" charset="-122"/>
                <a:cs typeface="Calibri" pitchFamily="34" charset="-120"/>
              </a:rPr>
              <a:t>Advisor writes the RO</a:t>
            </a:r>
            <a:endParaRPr lang="en-US" sz="1600" dirty="0"/>
          </a:p>
        </p:txBody>
      </p:sp>
      <p:sp>
        <p:nvSpPr>
          <p:cNvPr id="9" name="Text 7"/>
          <p:cNvSpPr/>
          <p:nvPr/>
        </p:nvSpPr>
        <p:spPr>
          <a:xfrm>
            <a:off x="639948" y="2677531"/>
            <a:ext cx="2669335" cy="453693"/>
          </a:xfrm>
          <a:prstGeom prst="rect">
            <a:avLst/>
          </a:prstGeom>
          <a:noFill/>
          <a:ln/>
        </p:spPr>
        <p:txBody>
          <a:bodyPr wrap="square" rtlCol="0" anchor="ctr"/>
          <a:lstStyle/>
          <a:p>
            <a:pPr marL="0" indent="0" algn="ctr">
              <a:buNone/>
            </a:pPr>
            <a:r>
              <a:rPr lang="en-US" sz="1400" dirty="0">
                <a:solidFill>
                  <a:srgbClr val="5B6B8C"/>
                </a:solidFill>
                <a:latin typeface="Calibri" pitchFamily="34" charset="0"/>
                <a:ea typeface="Calibri" pitchFamily="34" charset="-122"/>
                <a:cs typeface="Calibri" pitchFamily="34" charset="-120"/>
              </a:rPr>
              <a:t>In the shop management system you already use.</a:t>
            </a:r>
            <a:endParaRPr lang="en-US" sz="1400" dirty="0"/>
          </a:p>
        </p:txBody>
      </p:sp>
      <p:sp>
        <p:nvSpPr>
          <p:cNvPr id="10" name="Shape 8"/>
          <p:cNvSpPr/>
          <p:nvPr/>
        </p:nvSpPr>
        <p:spPr>
          <a:xfrm>
            <a:off x="3336063" y="2201865"/>
            <a:ext cx="412132" cy="0"/>
          </a:xfrm>
          <a:prstGeom prst="line">
            <a:avLst/>
          </a:prstGeom>
          <a:noFill/>
          <a:ln w="31750">
            <a:solidFill>
              <a:srgbClr val="0278B5"/>
            </a:solidFill>
            <a:prstDash val="solid"/>
            <a:tailEnd type="triangle"/>
          </a:ln>
        </p:spPr>
        <p:txBody>
          <a:bodyPr/>
          <a:lstStyle/>
          <a:p>
            <a:endParaRPr lang="en-US" sz="2000" dirty="0"/>
          </a:p>
        </p:txBody>
      </p:sp>
      <p:sp>
        <p:nvSpPr>
          <p:cNvPr id="11" name="Shape 9"/>
          <p:cNvSpPr/>
          <p:nvPr/>
        </p:nvSpPr>
        <p:spPr>
          <a:xfrm>
            <a:off x="3505568" y="1311762"/>
            <a:ext cx="2725223" cy="1865182"/>
          </a:xfrm>
          <a:prstGeom prst="roundRect">
            <a:avLst>
              <a:gd name="adj" fmla="val 3243"/>
            </a:avLst>
          </a:prstGeom>
          <a:solidFill>
            <a:srgbClr val="F3F6FC"/>
          </a:solidFill>
          <a:ln w="12700">
            <a:solidFill>
              <a:srgbClr val="E1E8F5"/>
            </a:solidFill>
            <a:prstDash val="solid"/>
          </a:ln>
        </p:spPr>
        <p:txBody>
          <a:bodyPr/>
          <a:lstStyle/>
          <a:p>
            <a:endParaRPr lang="en-US" dirty="0"/>
          </a:p>
        </p:txBody>
      </p:sp>
      <p:sp>
        <p:nvSpPr>
          <p:cNvPr id="12" name="Shape 10"/>
          <p:cNvSpPr/>
          <p:nvPr/>
        </p:nvSpPr>
        <p:spPr>
          <a:xfrm>
            <a:off x="4700544" y="1532113"/>
            <a:ext cx="576985" cy="564596"/>
          </a:xfrm>
          <a:prstGeom prst="ellipse">
            <a:avLst/>
          </a:prstGeom>
          <a:solidFill>
            <a:srgbClr val="0278B5"/>
          </a:solidFill>
          <a:ln/>
        </p:spPr>
        <p:txBody>
          <a:bodyPr/>
          <a:lstStyle/>
          <a:p>
            <a:endParaRPr lang="en-US" dirty="0"/>
          </a:p>
        </p:txBody>
      </p:sp>
      <p:sp>
        <p:nvSpPr>
          <p:cNvPr id="13" name="Text 11"/>
          <p:cNvSpPr/>
          <p:nvPr/>
        </p:nvSpPr>
        <p:spPr>
          <a:xfrm>
            <a:off x="4700544" y="1532113"/>
            <a:ext cx="576985" cy="564596"/>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3620194" y="2132102"/>
            <a:ext cx="2519157" cy="504103"/>
          </a:xfrm>
          <a:prstGeom prst="rect">
            <a:avLst/>
          </a:prstGeom>
          <a:noFill/>
          <a:ln/>
        </p:spPr>
        <p:txBody>
          <a:bodyPr wrap="square" rtlCol="0" anchor="ctr"/>
          <a:lstStyle/>
          <a:p>
            <a:pPr marL="0" indent="0" algn="ctr">
              <a:buNone/>
            </a:pPr>
            <a:r>
              <a:rPr lang="en-US" sz="1600" b="1" dirty="0">
                <a:solidFill>
                  <a:srgbClr val="1A2456"/>
                </a:solidFill>
                <a:latin typeface="Calibri" pitchFamily="34" charset="0"/>
                <a:ea typeface="Calibri" pitchFamily="34" charset="-122"/>
                <a:cs typeface="Calibri" pitchFamily="34" charset="-120"/>
              </a:rPr>
              <a:t>WrenchIQ reads the feed</a:t>
            </a:r>
            <a:endParaRPr lang="en-US" sz="1600" dirty="0"/>
          </a:p>
        </p:txBody>
      </p:sp>
      <p:sp>
        <p:nvSpPr>
          <p:cNvPr id="15" name="Text 13"/>
          <p:cNvSpPr/>
          <p:nvPr/>
        </p:nvSpPr>
        <p:spPr>
          <a:xfrm>
            <a:off x="3561456" y="2677531"/>
            <a:ext cx="2669335" cy="453693"/>
          </a:xfrm>
          <a:prstGeom prst="rect">
            <a:avLst/>
          </a:prstGeom>
          <a:noFill/>
          <a:ln/>
        </p:spPr>
        <p:txBody>
          <a:bodyPr wrap="square" rtlCol="0" anchor="ctr"/>
          <a:lstStyle/>
          <a:p>
            <a:pPr marL="0" indent="0" algn="ctr">
              <a:buNone/>
            </a:pPr>
            <a:r>
              <a:rPr lang="en-US" sz="1400" dirty="0">
                <a:solidFill>
                  <a:srgbClr val="5B6B8C"/>
                </a:solidFill>
                <a:latin typeface="Calibri" pitchFamily="34" charset="0"/>
                <a:ea typeface="Calibri" pitchFamily="34" charset="-122"/>
                <a:cs typeface="Calibri" pitchFamily="34" charset="-120"/>
              </a:rPr>
              <a:t>A silent intelligence layer running alongside it.</a:t>
            </a:r>
            <a:endParaRPr lang="en-US" sz="1400" dirty="0"/>
          </a:p>
        </p:txBody>
      </p:sp>
      <p:sp>
        <p:nvSpPr>
          <p:cNvPr id="16" name="Shape 14"/>
          <p:cNvSpPr/>
          <p:nvPr/>
        </p:nvSpPr>
        <p:spPr>
          <a:xfrm>
            <a:off x="6257571" y="2201865"/>
            <a:ext cx="412132" cy="0"/>
          </a:xfrm>
          <a:prstGeom prst="line">
            <a:avLst/>
          </a:prstGeom>
          <a:noFill/>
          <a:ln w="31750">
            <a:solidFill>
              <a:srgbClr val="0278B5"/>
            </a:solidFill>
            <a:prstDash val="solid"/>
            <a:tailEnd type="triangle"/>
          </a:ln>
        </p:spPr>
        <p:txBody>
          <a:bodyPr/>
          <a:lstStyle/>
          <a:p>
            <a:endParaRPr lang="en-US" sz="2000" dirty="0"/>
          </a:p>
        </p:txBody>
      </p:sp>
      <p:sp>
        <p:nvSpPr>
          <p:cNvPr id="17" name="Shape 15"/>
          <p:cNvSpPr/>
          <p:nvPr/>
        </p:nvSpPr>
        <p:spPr>
          <a:xfrm>
            <a:off x="6427076" y="1311762"/>
            <a:ext cx="2725223" cy="1865182"/>
          </a:xfrm>
          <a:prstGeom prst="roundRect">
            <a:avLst>
              <a:gd name="adj" fmla="val 3243"/>
            </a:avLst>
          </a:prstGeom>
          <a:solidFill>
            <a:srgbClr val="F3F6FC"/>
          </a:solidFill>
          <a:ln w="12700">
            <a:solidFill>
              <a:srgbClr val="E1E8F5"/>
            </a:solidFill>
            <a:prstDash val="solid"/>
          </a:ln>
        </p:spPr>
        <p:txBody>
          <a:bodyPr/>
          <a:lstStyle/>
          <a:p>
            <a:endParaRPr lang="en-US" dirty="0"/>
          </a:p>
        </p:txBody>
      </p:sp>
      <p:sp>
        <p:nvSpPr>
          <p:cNvPr id="18" name="Shape 16"/>
          <p:cNvSpPr/>
          <p:nvPr/>
        </p:nvSpPr>
        <p:spPr>
          <a:xfrm>
            <a:off x="7622052" y="1532113"/>
            <a:ext cx="576985" cy="564596"/>
          </a:xfrm>
          <a:prstGeom prst="ellipse">
            <a:avLst/>
          </a:prstGeom>
          <a:solidFill>
            <a:srgbClr val="0E9F6E"/>
          </a:solidFill>
          <a:ln/>
        </p:spPr>
        <p:txBody>
          <a:bodyPr/>
          <a:lstStyle/>
          <a:p>
            <a:endParaRPr lang="en-US" dirty="0"/>
          </a:p>
        </p:txBody>
      </p:sp>
      <p:sp>
        <p:nvSpPr>
          <p:cNvPr id="19" name="Text 17"/>
          <p:cNvSpPr/>
          <p:nvPr/>
        </p:nvSpPr>
        <p:spPr>
          <a:xfrm>
            <a:off x="7622052" y="1532113"/>
            <a:ext cx="576985" cy="564596"/>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6541702" y="2132102"/>
            <a:ext cx="2519157" cy="504103"/>
          </a:xfrm>
          <a:prstGeom prst="rect">
            <a:avLst/>
          </a:prstGeom>
          <a:noFill/>
          <a:ln/>
        </p:spPr>
        <p:txBody>
          <a:bodyPr wrap="square" rtlCol="0" anchor="ctr"/>
          <a:lstStyle/>
          <a:p>
            <a:pPr marL="0" indent="0" algn="ctr">
              <a:buNone/>
            </a:pPr>
            <a:r>
              <a:rPr lang="en-US" sz="1600" b="1" dirty="0">
                <a:solidFill>
                  <a:srgbClr val="1A2456"/>
                </a:solidFill>
                <a:latin typeface="Calibri" pitchFamily="34" charset="0"/>
                <a:ea typeface="Calibri" pitchFamily="34" charset="-122"/>
                <a:cs typeface="Calibri" pitchFamily="34" charset="-120"/>
              </a:rPr>
              <a:t>It speaks up in the moment</a:t>
            </a:r>
            <a:endParaRPr lang="en-US" sz="1600" dirty="0"/>
          </a:p>
        </p:txBody>
      </p:sp>
      <p:sp>
        <p:nvSpPr>
          <p:cNvPr id="21" name="Text 19"/>
          <p:cNvSpPr/>
          <p:nvPr/>
        </p:nvSpPr>
        <p:spPr>
          <a:xfrm>
            <a:off x="6466495" y="2677531"/>
            <a:ext cx="2669335" cy="453693"/>
          </a:xfrm>
          <a:prstGeom prst="rect">
            <a:avLst/>
          </a:prstGeom>
          <a:noFill/>
          <a:ln/>
        </p:spPr>
        <p:txBody>
          <a:bodyPr wrap="square" rtlCol="0" anchor="ctr"/>
          <a:lstStyle/>
          <a:p>
            <a:pPr marL="0" indent="0" algn="ctr">
              <a:buNone/>
            </a:pPr>
            <a:r>
              <a:rPr lang="en-US" sz="1400" dirty="0">
                <a:solidFill>
                  <a:srgbClr val="5B6B8C"/>
                </a:solidFill>
                <a:latin typeface="Calibri" pitchFamily="34" charset="0"/>
                <a:ea typeface="Calibri" pitchFamily="34" charset="-122"/>
                <a:cs typeface="Calibri" pitchFamily="34" charset="-120"/>
              </a:rPr>
              <a:t>Recommendations, margin flags &amp; priority reminders.</a:t>
            </a:r>
            <a:endParaRPr lang="en-US" sz="1400" dirty="0"/>
          </a:p>
        </p:txBody>
      </p:sp>
      <p:sp>
        <p:nvSpPr>
          <p:cNvPr id="22" name="Shape 20"/>
          <p:cNvSpPr/>
          <p:nvPr/>
        </p:nvSpPr>
        <p:spPr>
          <a:xfrm>
            <a:off x="9179079" y="2201865"/>
            <a:ext cx="412132" cy="0"/>
          </a:xfrm>
          <a:prstGeom prst="line">
            <a:avLst/>
          </a:prstGeom>
          <a:noFill/>
          <a:ln w="31750">
            <a:solidFill>
              <a:srgbClr val="0278B5"/>
            </a:solidFill>
            <a:prstDash val="solid"/>
            <a:tailEnd type="triangle"/>
          </a:ln>
        </p:spPr>
        <p:txBody>
          <a:bodyPr/>
          <a:lstStyle/>
          <a:p>
            <a:endParaRPr lang="en-US" sz="2000" dirty="0"/>
          </a:p>
        </p:txBody>
      </p:sp>
      <p:sp>
        <p:nvSpPr>
          <p:cNvPr id="23" name="Shape 21"/>
          <p:cNvSpPr/>
          <p:nvPr/>
        </p:nvSpPr>
        <p:spPr>
          <a:xfrm>
            <a:off x="9348584" y="1311762"/>
            <a:ext cx="2725223" cy="1865182"/>
          </a:xfrm>
          <a:prstGeom prst="roundRect">
            <a:avLst>
              <a:gd name="adj" fmla="val 3243"/>
            </a:avLst>
          </a:prstGeom>
          <a:solidFill>
            <a:srgbClr val="F3F6FC"/>
          </a:solidFill>
          <a:ln w="12700">
            <a:solidFill>
              <a:srgbClr val="E1E8F5"/>
            </a:solidFill>
            <a:prstDash val="solid"/>
          </a:ln>
        </p:spPr>
        <p:txBody>
          <a:bodyPr/>
          <a:lstStyle/>
          <a:p>
            <a:endParaRPr lang="en-US" dirty="0"/>
          </a:p>
        </p:txBody>
      </p:sp>
      <p:sp>
        <p:nvSpPr>
          <p:cNvPr id="24" name="Shape 22"/>
          <p:cNvSpPr/>
          <p:nvPr/>
        </p:nvSpPr>
        <p:spPr>
          <a:xfrm>
            <a:off x="10543560" y="1532113"/>
            <a:ext cx="576985" cy="564596"/>
          </a:xfrm>
          <a:prstGeom prst="ellipse">
            <a:avLst/>
          </a:prstGeom>
          <a:solidFill>
            <a:srgbClr val="1A2456"/>
          </a:solidFill>
          <a:ln/>
        </p:spPr>
        <p:txBody>
          <a:bodyPr/>
          <a:lstStyle/>
          <a:p>
            <a:endParaRPr lang="en-US" dirty="0"/>
          </a:p>
        </p:txBody>
      </p:sp>
      <p:sp>
        <p:nvSpPr>
          <p:cNvPr id="25" name="Text 23"/>
          <p:cNvSpPr/>
          <p:nvPr/>
        </p:nvSpPr>
        <p:spPr>
          <a:xfrm>
            <a:off x="10543560" y="1532113"/>
            <a:ext cx="576985" cy="564596"/>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6" name="Text 24"/>
          <p:cNvSpPr/>
          <p:nvPr/>
        </p:nvSpPr>
        <p:spPr>
          <a:xfrm>
            <a:off x="9463210" y="2132102"/>
            <a:ext cx="2519157" cy="504103"/>
          </a:xfrm>
          <a:prstGeom prst="rect">
            <a:avLst/>
          </a:prstGeom>
          <a:noFill/>
          <a:ln/>
        </p:spPr>
        <p:txBody>
          <a:bodyPr wrap="square" rtlCol="0" anchor="ctr"/>
          <a:lstStyle/>
          <a:p>
            <a:pPr marL="0" indent="0" algn="ctr">
              <a:buNone/>
            </a:pPr>
            <a:r>
              <a:rPr lang="en-US" sz="1600" b="1" dirty="0">
                <a:solidFill>
                  <a:srgbClr val="1A2456"/>
                </a:solidFill>
                <a:latin typeface="Calibri" pitchFamily="34" charset="0"/>
                <a:ea typeface="Calibri" pitchFamily="34" charset="-122"/>
                <a:cs typeface="Calibri" pitchFamily="34" charset="-120"/>
              </a:rPr>
              <a:t>Advisor acts</a:t>
            </a:r>
            <a:endParaRPr lang="en-US" sz="1600" dirty="0"/>
          </a:p>
        </p:txBody>
      </p:sp>
      <p:sp>
        <p:nvSpPr>
          <p:cNvPr id="27" name="Text 25"/>
          <p:cNvSpPr/>
          <p:nvPr/>
        </p:nvSpPr>
        <p:spPr>
          <a:xfrm>
            <a:off x="9248306" y="2677531"/>
            <a:ext cx="2935714" cy="453693"/>
          </a:xfrm>
          <a:prstGeom prst="rect">
            <a:avLst/>
          </a:prstGeom>
          <a:noFill/>
          <a:ln/>
        </p:spPr>
        <p:txBody>
          <a:bodyPr wrap="square" rtlCol="0" anchor="ctr"/>
          <a:lstStyle/>
          <a:p>
            <a:pPr marL="0" indent="0" algn="ctr">
              <a:buNone/>
            </a:pPr>
            <a:r>
              <a:rPr lang="en-US" sz="1400" dirty="0">
                <a:solidFill>
                  <a:srgbClr val="5B6B8C"/>
                </a:solidFill>
                <a:latin typeface="Calibri" pitchFamily="34" charset="0"/>
                <a:ea typeface="Calibri" pitchFamily="34" charset="-122"/>
                <a:cs typeface="Calibri" pitchFamily="34" charset="-120"/>
              </a:rPr>
              <a:t>The human always makes</a:t>
            </a:r>
          </a:p>
          <a:p>
            <a:pPr marL="0" indent="0" algn="ctr">
              <a:buNone/>
            </a:pPr>
            <a:r>
              <a:rPr lang="en-US" sz="1400" dirty="0">
                <a:solidFill>
                  <a:srgbClr val="5B6B8C"/>
                </a:solidFill>
                <a:latin typeface="Calibri" pitchFamily="34" charset="0"/>
                <a:ea typeface="Calibri" pitchFamily="34" charset="-122"/>
                <a:cs typeface="Calibri" pitchFamily="34" charset="-120"/>
              </a:rPr>
              <a:t>the final call.</a:t>
            </a:r>
            <a:endParaRPr lang="en-US" sz="1400" dirty="0"/>
          </a:p>
        </p:txBody>
      </p:sp>
      <p:sp>
        <p:nvSpPr>
          <p:cNvPr id="31" name="Text 29"/>
          <p:cNvSpPr/>
          <p:nvPr/>
        </p:nvSpPr>
        <p:spPr>
          <a:xfrm>
            <a:off x="502920" y="6446520"/>
            <a:ext cx="7315200" cy="274320"/>
          </a:xfrm>
          <a:prstGeom prst="rect">
            <a:avLst/>
          </a:prstGeom>
          <a:noFill/>
          <a:ln/>
        </p:spPr>
        <p:txBody>
          <a:bodyPr wrap="square" rtlCol="0" anchor="ctr"/>
          <a:lstStyle/>
          <a:p>
            <a:pPr marL="0" indent="0" algn="l">
              <a:buNone/>
            </a:pPr>
            <a:r>
              <a:rPr lang="en-US" sz="850" b="1" kern="0" spc="100" dirty="0">
                <a:solidFill>
                  <a:srgbClr val="5B6B8C"/>
                </a:solidFill>
                <a:latin typeface="Calibri" pitchFamily="34" charset="0"/>
                <a:ea typeface="Calibri" pitchFamily="34" charset="-122"/>
                <a:cs typeface="Calibri" pitchFamily="34" charset="-120"/>
              </a:rPr>
              <a:t>PREDII CONFIDENTIAL</a:t>
            </a:r>
            <a:r>
              <a:rPr lang="en-US" sz="850" kern="0" spc="100" dirty="0">
                <a:solidFill>
                  <a:srgbClr val="5B6B8C"/>
                </a:solidFill>
                <a:latin typeface="Calibri" pitchFamily="34" charset="0"/>
                <a:ea typeface="Calibri" pitchFamily="34" charset="-122"/>
                <a:cs typeface="Calibri" pitchFamily="34" charset="-120"/>
              </a:rPr>
              <a:t>   |   WRENCHIQ INTRODUCTION</a:t>
            </a:r>
            <a:endParaRPr lang="en-US" sz="850" dirty="0"/>
          </a:p>
        </p:txBody>
      </p:sp>
      <p:sp>
        <p:nvSpPr>
          <p:cNvPr id="32" name="Text 30"/>
          <p:cNvSpPr/>
          <p:nvPr/>
        </p:nvSpPr>
        <p:spPr>
          <a:xfrm>
            <a:off x="4873752" y="6446520"/>
            <a:ext cx="6812280" cy="274320"/>
          </a:xfrm>
          <a:prstGeom prst="rect">
            <a:avLst/>
          </a:prstGeom>
          <a:noFill/>
          <a:ln/>
        </p:spPr>
        <p:txBody>
          <a:bodyPr wrap="square" rtlCol="0" anchor="ctr"/>
          <a:lstStyle/>
          <a:p>
            <a:pPr marL="0" indent="0" algn="r">
              <a:buNone/>
            </a:pPr>
            <a:r>
              <a:rPr lang="en-US" sz="850" dirty="0">
                <a:solidFill>
                  <a:srgbClr val="5B6B8C"/>
                </a:solidFill>
                <a:latin typeface="Calibri" pitchFamily="34" charset="0"/>
                <a:ea typeface="Calibri" pitchFamily="34" charset="-122"/>
                <a:cs typeface="Calibri" pitchFamily="34" charset="-120"/>
              </a:rPr>
              <a:t>Slide 4 · How It Works</a:t>
            </a:r>
            <a:endParaRPr lang="en-US" sz="850" dirty="0"/>
          </a:p>
        </p:txBody>
      </p:sp>
      <p:pic>
        <p:nvPicPr>
          <p:cNvPr id="29" name="Picture 28">
            <a:extLst>
              <a:ext uri="{FF2B5EF4-FFF2-40B4-BE49-F238E27FC236}">
                <a16:creationId xmlns:a16="http://schemas.microsoft.com/office/drawing/2014/main" id="{82ACDBB5-E71A-E5E0-1710-6E69EF5DEE1A}"/>
              </a:ext>
            </a:extLst>
          </p:cNvPr>
          <p:cNvPicPr>
            <a:picLocks noChangeAspect="1"/>
          </p:cNvPicPr>
          <p:nvPr/>
        </p:nvPicPr>
        <p:blipFill>
          <a:blip r:embed="rId4"/>
          <a:stretch>
            <a:fillRect/>
          </a:stretch>
        </p:blipFill>
        <p:spPr>
          <a:xfrm>
            <a:off x="140766" y="3421565"/>
            <a:ext cx="5829887" cy="3046501"/>
          </a:xfrm>
          <a:prstGeom prst="rect">
            <a:avLst/>
          </a:prstGeom>
        </p:spPr>
      </p:pic>
      <p:pic>
        <p:nvPicPr>
          <p:cNvPr id="30" name="Picture 29">
            <a:extLst>
              <a:ext uri="{FF2B5EF4-FFF2-40B4-BE49-F238E27FC236}">
                <a16:creationId xmlns:a16="http://schemas.microsoft.com/office/drawing/2014/main" id="{B88785C7-0BB2-A5F9-18AA-FF5F3EDD3DCE}"/>
              </a:ext>
            </a:extLst>
          </p:cNvPr>
          <p:cNvPicPr>
            <a:picLocks noChangeAspect="1"/>
          </p:cNvPicPr>
          <p:nvPr/>
        </p:nvPicPr>
        <p:blipFill>
          <a:blip r:embed="rId5"/>
          <a:stretch>
            <a:fillRect/>
          </a:stretch>
        </p:blipFill>
        <p:spPr>
          <a:xfrm>
            <a:off x="6036968" y="3421564"/>
            <a:ext cx="6084359" cy="3024955"/>
          </a:xfrm>
          <a:prstGeom prst="rect">
            <a:avLst/>
          </a:prstGeom>
        </p:spPr>
      </p:pic>
    </p:spTree>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c29fb3a-9f8f-4370-accc-1212e94e3e5f">
      <Terms xmlns="http://schemas.microsoft.com/office/infopath/2007/PartnerControls"/>
    </lcf76f155ced4ddcb4097134ff3c332f>
    <TaxCatchAll xmlns="ee248e4d-56dd-419f-9d58-3bbe6ea52c2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5FE669C66DBC6409722B107D6F149B3" ma:contentTypeVersion="18" ma:contentTypeDescription="Create a new document." ma:contentTypeScope="" ma:versionID="3a6dc0f6f9f6c6582b1b356513f6ccc6">
  <xsd:schema xmlns:xsd="http://www.w3.org/2001/XMLSchema" xmlns:xs="http://www.w3.org/2001/XMLSchema" xmlns:p="http://schemas.microsoft.com/office/2006/metadata/properties" xmlns:ns2="1c29fb3a-9f8f-4370-accc-1212e94e3e5f" xmlns:ns3="ee248e4d-56dd-419f-9d58-3bbe6ea52c23" targetNamespace="http://schemas.microsoft.com/office/2006/metadata/properties" ma:root="true" ma:fieldsID="633e0725411dec43cbfb09aa73b3ce73" ns2:_="" ns3:_="">
    <xsd:import namespace="1c29fb3a-9f8f-4370-accc-1212e94e3e5f"/>
    <xsd:import namespace="ee248e4d-56dd-419f-9d58-3bbe6ea52c2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29fb3a-9f8f-4370-accc-1212e94e3e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a488303c-1999-4640-8576-97d95d4113f6"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e248e4d-56dd-419f-9d58-3bbe6ea52c23"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8ec3d4b1-8864-45de-bb91-5ec9f4729126}" ma:internalName="TaxCatchAll" ma:showField="CatchAllData" ma:web="ee248e4d-56dd-419f-9d58-3bbe6ea52c2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8A58A1-2151-46DF-BC0B-1F2306247FFD}">
  <ds:schemaRefs>
    <ds:schemaRef ds:uri="http://schemas.microsoft.com/office/2006/metadata/properties"/>
    <ds:schemaRef ds:uri="http://schemas.microsoft.com/office/infopath/2007/PartnerControls"/>
    <ds:schemaRef ds:uri="1c29fb3a-9f8f-4370-accc-1212e94e3e5f"/>
    <ds:schemaRef ds:uri="ee248e4d-56dd-419f-9d58-3bbe6ea52c23"/>
  </ds:schemaRefs>
</ds:datastoreItem>
</file>

<file path=customXml/itemProps2.xml><?xml version="1.0" encoding="utf-8"?>
<ds:datastoreItem xmlns:ds="http://schemas.openxmlformats.org/officeDocument/2006/customXml" ds:itemID="{9C935901-0B3A-4B0C-9B67-AB7F66BB43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c29fb3a-9f8f-4370-accc-1212e94e3e5f"/>
    <ds:schemaRef ds:uri="ee248e4d-56dd-419f-9d58-3bbe6ea52c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D1F080A-24CE-495A-8B0D-0C2674B3159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326</TotalTime>
  <Words>1677</Words>
  <Application>Microsoft Office PowerPoint</Application>
  <PresentationFormat>Custom</PresentationFormat>
  <Paragraphs>141</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Mark Seng</cp:lastModifiedBy>
  <cp:revision>7</cp:revision>
  <dcterms:created xsi:type="dcterms:W3CDTF">2026-07-06T22:01:43Z</dcterms:created>
  <dcterms:modified xsi:type="dcterms:W3CDTF">2026-07-30T14:43:56Z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0x010100A5FE669C66DBC6409722B107D6F149B3</vt:lpwstr>
  </property>
  <property fmtid="{D5CDD505-2E9C-101B-9397-08002B2CF9AE}" pid="3" name="MediaServiceImageTags">
    <vt:lpwstr/>
  </property>
</Properties>
</file>